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171B05C-A2AE-4EE6-A5DD-F84FD048E55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1B06BD-B9FA-4512-8C7B-AB81905AA4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2BD2D9-27D5-4F0F-97D5-D6D2710166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9E46CC-5D46-469B-A6C6-02A29CF56C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83BE0B-0FD8-4E35-850B-861E877378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1F395-8BE4-40CA-A4D7-F62534A197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38F6C0-414A-45A2-9141-6A7AFA34783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4B7E22-C02F-4DA0-A593-CA92D15D6C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4BFC66-155E-4208-848A-852DCE83A8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2E4AE8-9FA3-4588-8C41-76639A8E3A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32B1E2-D015-4240-AA98-2F30E7FB1C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5C897E-AE14-4601-8155-9306C86CCD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5079600"/>
            <a:ext cx="9143640" cy="63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20040" y="777240"/>
            <a:ext cx="91080" cy="3017160"/>
          </a:xfrm>
          <a:prstGeom prst="rect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320040" y="777240"/>
            <a:ext cx="411120" cy="91080"/>
          </a:xfrm>
          <a:prstGeom prst="rect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20040" y="3703320"/>
            <a:ext cx="411120" cy="91080"/>
          </a:xfrm>
          <a:prstGeom prst="rect">
            <a:avLst/>
          </a:prstGeom>
          <a:solidFill>
            <a:srgbClr val="00b4d8">
              <a:alpha val="55000"/>
            </a:srgbClr>
          </a:solidFill>
          <a:ln w="12700">
            <a:solidFill>
              <a:srgbClr val="00b4d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914400" y="914400"/>
            <a:ext cx="65833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Prédiction des Prix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Immobiliers en Mauritanie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77680" y="32007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De zéro à une application web : scraping · géo-enrichissement · ML · déploiement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7406640" y="1097280"/>
            <a:ext cx="1416960" cy="2697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406640" y="1097280"/>
            <a:ext cx="54360" cy="2697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516440" y="123444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  <a:ea typeface="Calibri"/>
              </a:rPr>
              <a:t>1153+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516440" y="15271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annonces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516440" y="183780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  <a:ea typeface="Calibri"/>
              </a:rPr>
              <a:t>5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516440" y="213048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sites scrappés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516440" y="244152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  <a:ea typeface="Calibri"/>
              </a:rPr>
              <a:t>8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516440" y="27342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quartiers NKC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516440" y="304488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59e0b"/>
                </a:solidFill>
                <a:latin typeface="Calibri"/>
                <a:ea typeface="Calibri"/>
              </a:rPr>
              <a:t>117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516440" y="333756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features ML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457200" y="4160520"/>
            <a:ext cx="1572480" cy="347040"/>
          </a:xfrm>
          <a:prstGeom prst="roundRect">
            <a:avLst>
              <a:gd name="adj" fmla="val 26316"/>
            </a:avLst>
          </a:prstGeom>
          <a:solidFill>
            <a:srgbClr val="1a2f45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57200" y="4160520"/>
            <a:ext cx="157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Phase 1 · Scraping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2148840" y="4160520"/>
            <a:ext cx="1572480" cy="347040"/>
          </a:xfrm>
          <a:prstGeom prst="roundRect">
            <a:avLst>
              <a:gd name="adj" fmla="val 26316"/>
            </a:avLst>
          </a:prstGeom>
          <a:solidFill>
            <a:srgbClr val="1a2f45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2148840" y="4160520"/>
            <a:ext cx="157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c39a"/>
                </a:solidFill>
                <a:latin typeface="Calibri"/>
                <a:ea typeface="Calibri"/>
              </a:rPr>
              <a:t>Phase 2 · Géo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3840480" y="4160520"/>
            <a:ext cx="1572480" cy="347040"/>
          </a:xfrm>
          <a:prstGeom prst="roundRect">
            <a:avLst>
              <a:gd name="adj" fmla="val 26316"/>
            </a:avLst>
          </a:prstGeom>
          <a:solidFill>
            <a:srgbClr val="1a2f45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3840480" y="4160520"/>
            <a:ext cx="157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Phase 3 · EDA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5532120" y="4160520"/>
            <a:ext cx="1572480" cy="347040"/>
          </a:xfrm>
          <a:prstGeom prst="roundRect">
            <a:avLst>
              <a:gd name="adj" fmla="val 26316"/>
            </a:avLst>
          </a:prstGeom>
          <a:solidFill>
            <a:srgbClr val="1a2f45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5532120" y="4160520"/>
            <a:ext cx="157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18cf8"/>
                </a:solidFill>
                <a:latin typeface="Calibri"/>
                <a:ea typeface="Calibri"/>
              </a:rPr>
              <a:t>Phase 4 · 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7223760" y="4160520"/>
            <a:ext cx="1572480" cy="347040"/>
          </a:xfrm>
          <a:prstGeom prst="roundRect">
            <a:avLst>
              <a:gd name="adj" fmla="val 26316"/>
            </a:avLst>
          </a:prstGeom>
          <a:solidFill>
            <a:srgbClr val="1a2f45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223760" y="4160520"/>
            <a:ext cx="157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c4899"/>
                </a:solidFill>
                <a:latin typeface="Calibri"/>
                <a:ea typeface="Calibri"/>
              </a:rPr>
              <a:t>Phase 5 · App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320040" y="46818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429000" y="2971800"/>
            <a:ext cx="4114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SAMSAR 2.0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Bilan &amp; Perspectives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00b4d8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320040" y="987480"/>
            <a:ext cx="5120280" cy="694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320040" y="987480"/>
            <a:ext cx="54360" cy="69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457200" y="1106280"/>
            <a:ext cx="776880" cy="3286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57200" y="110628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b4d8"/>
                </a:solidFill>
                <a:latin typeface="Calibri"/>
                <a:ea typeface="Calibri"/>
              </a:rPr>
              <a:t>Phase 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1353240" y="10515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Scraping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1353240" y="13258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1 153 annonces · 5 sources · 12 colonnes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320040" y="1792080"/>
            <a:ext cx="5120280" cy="694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320040" y="1792080"/>
            <a:ext cx="54360" cy="69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457200" y="1911240"/>
            <a:ext cx="776880" cy="32868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457200" y="191124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Phase 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353240" y="18561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Géo-enrichissement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1353240" y="21304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9 features GPS/POI · Nominatim + Overpass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320040" y="2597040"/>
            <a:ext cx="5120280" cy="694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320040" y="2597040"/>
            <a:ext cx="54360" cy="69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457200" y="2715840"/>
            <a:ext cx="776880" cy="3286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457200" y="271584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9e0b"/>
                </a:solidFill>
                <a:latin typeface="Calibri"/>
                <a:ea typeface="Calibri"/>
              </a:rPr>
              <a:t>Phase 3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1353240" y="26607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EDA (8 étapes)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1353240" y="2935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MCAR/MAR/MNAR identifiés · outliers traités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1"/>
          <p:cNvSpPr/>
          <p:nvPr/>
        </p:nvSpPr>
        <p:spPr>
          <a:xfrm>
            <a:off x="320040" y="3401640"/>
            <a:ext cx="5120280" cy="694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2"/>
          <p:cNvSpPr/>
          <p:nvPr/>
        </p:nvSpPr>
        <p:spPr>
          <a:xfrm>
            <a:off x="320040" y="3401640"/>
            <a:ext cx="54360" cy="694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457200" y="3520440"/>
            <a:ext cx="776880" cy="32868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457200" y="352044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818cf8"/>
                </a:solidFill>
                <a:latin typeface="Calibri"/>
                <a:ea typeface="Calibri"/>
              </a:rPr>
              <a:t>Phase 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1353240" y="346572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ML &amp; Stacking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1353240" y="37400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RMSLE 0.999 → 0.657 (RF) · R² 0.564 · −34% vs baseline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7"/>
          <p:cNvSpPr/>
          <p:nvPr/>
        </p:nvSpPr>
        <p:spPr>
          <a:xfrm>
            <a:off x="320040" y="4206240"/>
            <a:ext cx="5120280" cy="694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28"/>
          <p:cNvSpPr/>
          <p:nvPr/>
        </p:nvSpPr>
        <p:spPr>
          <a:xfrm>
            <a:off x="320040" y="4206240"/>
            <a:ext cx="54360" cy="694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29"/>
          <p:cNvSpPr/>
          <p:nvPr/>
        </p:nvSpPr>
        <p:spPr>
          <a:xfrm>
            <a:off x="457200" y="4325040"/>
            <a:ext cx="776880" cy="328680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30"/>
          <p:cNvSpPr/>
          <p:nvPr/>
        </p:nvSpPr>
        <p:spPr>
          <a:xfrm>
            <a:off x="457200" y="432504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c4899"/>
                </a:solidFill>
                <a:latin typeface="Calibri"/>
                <a:ea typeface="Calibri"/>
              </a:rPr>
              <a:t>Phase 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31"/>
          <p:cNvSpPr/>
          <p:nvPr/>
        </p:nvSpPr>
        <p:spPr>
          <a:xfrm>
            <a:off x="1353240" y="427032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Application Web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32"/>
          <p:cNvSpPr/>
          <p:nvPr/>
        </p:nvSpPr>
        <p:spPr>
          <a:xfrm>
            <a:off x="1353240" y="45446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API Flask + Next.js · Leaflet · Déployé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33"/>
          <p:cNvSpPr/>
          <p:nvPr/>
        </p:nvSpPr>
        <p:spPr>
          <a:xfrm>
            <a:off x="5669280" y="987480"/>
            <a:ext cx="3154320" cy="2450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34"/>
          <p:cNvSpPr/>
          <p:nvPr/>
        </p:nvSpPr>
        <p:spPr>
          <a:xfrm>
            <a:off x="5669280" y="987480"/>
            <a:ext cx="315432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35"/>
          <p:cNvSpPr/>
          <p:nvPr/>
        </p:nvSpPr>
        <p:spPr>
          <a:xfrm>
            <a:off x="5806440" y="107892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LEÇONS APPRISES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36"/>
          <p:cNvSpPr/>
          <p:nvPr/>
        </p:nvSpPr>
        <p:spPr>
          <a:xfrm>
            <a:off x="5779080" y="1389960"/>
            <a:ext cx="294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alibri"/>
                <a:ea typeface="Calibri"/>
              </a:rPr>
              <a:t>1.  surface_m2, longitude, quartier_target_enc = top 3 features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7"/>
          <p:cNvSpPr/>
          <p:nvPr/>
        </p:nvSpPr>
        <p:spPr>
          <a:xfrm>
            <a:off x="5779080" y="1774080"/>
            <a:ext cx="294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alibri"/>
                <a:ea typeface="Calibri"/>
              </a:rPr>
              <a:t>2.  Log-transformer le prix est non-négociable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8"/>
          <p:cNvSpPr/>
          <p:nvPr/>
        </p:nvSpPr>
        <p:spPr>
          <a:xfrm>
            <a:off x="5779080" y="2157840"/>
            <a:ext cx="294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alibri"/>
                <a:ea typeface="Calibri"/>
              </a:rPr>
              <a:t>3.  Stacking : le meta-learner doit avoir son propre CV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9"/>
          <p:cNvSpPr/>
          <p:nvPr/>
        </p:nvSpPr>
        <p:spPr>
          <a:xfrm>
            <a:off x="5779080" y="2541960"/>
            <a:ext cx="294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4.  Early stopping : mêmes conditions tuning &amp; entraînement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0"/>
          <p:cNvSpPr/>
          <p:nvPr/>
        </p:nvSpPr>
        <p:spPr>
          <a:xfrm>
            <a:off x="5779080" y="2926080"/>
            <a:ext cx="294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5.  1 changement à la fois pour isoler les régressions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41"/>
          <p:cNvSpPr/>
          <p:nvPr/>
        </p:nvSpPr>
        <p:spPr>
          <a:xfrm>
            <a:off x="5669280" y="3547800"/>
            <a:ext cx="3154320" cy="1352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42"/>
          <p:cNvSpPr/>
          <p:nvPr/>
        </p:nvSpPr>
        <p:spPr>
          <a:xfrm>
            <a:off x="5669280" y="3547800"/>
            <a:ext cx="315432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43"/>
          <p:cNvSpPr/>
          <p:nvPr/>
        </p:nvSpPr>
        <p:spPr>
          <a:xfrm>
            <a:off x="5806440" y="363924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Calibri"/>
              </a:rPr>
              <a:t>AMÉLIORATIONS FUTURES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44"/>
          <p:cNvSpPr/>
          <p:nvPr/>
        </p:nvSpPr>
        <p:spPr>
          <a:xfrm>
            <a:off x="5779080" y="395028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Étendre à Nouadhibou (2ème ville)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45"/>
          <p:cNvSpPr/>
          <p:nvPr/>
        </p:nvSpPr>
        <p:spPr>
          <a:xfrm>
            <a:off x="5779080" y="418788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Scraping continu — mise à jour mensuelle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6"/>
          <p:cNvSpPr/>
          <p:nvPr/>
        </p:nvSpPr>
        <p:spPr>
          <a:xfrm>
            <a:off x="5779080" y="442584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LLM arabe (AraBERT) pour le NLP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47"/>
          <p:cNvSpPr/>
          <p:nvPr/>
        </p:nvSpPr>
        <p:spPr>
          <a:xfrm>
            <a:off x="5779080" y="4663440"/>
            <a:ext cx="294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Heatmap des prix sur la carte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1 — Web Scraping &amp; Collecte de Données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00b4d8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7223760" y="2012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320040" y="960120"/>
            <a:ext cx="4205880" cy="338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457200" y="102420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SOURCES SCRAPPÉES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457200" y="13532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Site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2194560" y="135324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Type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3749040" y="135324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384120" y="1627560"/>
            <a:ext cx="4087080" cy="438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457200" y="166428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voursa.com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2194560" y="166428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Annonces locales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3749040" y="166428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384120" y="2112120"/>
            <a:ext cx="4087080" cy="438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457200" y="21488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lagence-mr.com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2194560" y="214884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Agence premium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3749040" y="214884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384120" y="2597040"/>
            <a:ext cx="4087080" cy="438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457200" y="263340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afribaba.com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2194560" y="263340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Annonces Afrique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3749040" y="263340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384120" y="3081600"/>
            <a:ext cx="4087080" cy="438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457200" y="311796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mauri-home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2194560" y="311796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Portail immobilier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3749040" y="311796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384120" y="3566160"/>
            <a:ext cx="4087080" cy="438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27"/>
          <p:cNvSpPr/>
          <p:nvPr/>
        </p:nvSpPr>
        <p:spPr>
          <a:xfrm>
            <a:off x="457200" y="360288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untoitenrim.com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2194560" y="360288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Immobilier NKC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3749040" y="360288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✓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30"/>
          <p:cNvSpPr/>
          <p:nvPr/>
        </p:nvSpPr>
        <p:spPr>
          <a:xfrm>
            <a:off x="384120" y="4114800"/>
            <a:ext cx="4087080" cy="1825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1"/>
          <p:cNvSpPr/>
          <p:nvPr/>
        </p:nvSpPr>
        <p:spPr>
          <a:xfrm>
            <a:off x="457200" y="411480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Total collecté : 1 153 annonces nettoyées  ·  289 test  ·  5 sources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32"/>
          <p:cNvSpPr/>
          <p:nvPr/>
        </p:nvSpPr>
        <p:spPr>
          <a:xfrm>
            <a:off x="4709160" y="960120"/>
            <a:ext cx="4114440" cy="19656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33"/>
          <p:cNvSpPr/>
          <p:nvPr/>
        </p:nvSpPr>
        <p:spPr>
          <a:xfrm>
            <a:off x="4846320" y="1024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DONNÉES EXTRAITES PAR ANNONCE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34"/>
          <p:cNvSpPr/>
          <p:nvPr/>
        </p:nvSpPr>
        <p:spPr>
          <a:xfrm>
            <a:off x="4846320" y="13716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titre, type_bien, type_annonce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5"/>
          <p:cNvSpPr/>
          <p:nvPr/>
        </p:nvSpPr>
        <p:spPr>
          <a:xfrm>
            <a:off x="7452360" y="13716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Identification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36"/>
          <p:cNvSpPr/>
          <p:nvPr/>
        </p:nvSpPr>
        <p:spPr>
          <a:xfrm>
            <a:off x="4846320" y="16916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prix (MRU), surface_m2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37"/>
          <p:cNvSpPr/>
          <p:nvPr/>
        </p:nvSpPr>
        <p:spPr>
          <a:xfrm>
            <a:off x="7452360" y="16916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Valeur &amp; taille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38"/>
          <p:cNvSpPr/>
          <p:nvPr/>
        </p:nvSpPr>
        <p:spPr>
          <a:xfrm>
            <a:off x="4846320" y="20116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nb_chambres, nb_salons, nb_sdb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9"/>
          <p:cNvSpPr/>
          <p:nvPr/>
        </p:nvSpPr>
        <p:spPr>
          <a:xfrm>
            <a:off x="7452360" y="2011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Pièces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0"/>
          <p:cNvSpPr/>
          <p:nvPr/>
        </p:nvSpPr>
        <p:spPr>
          <a:xfrm>
            <a:off x="4846320" y="23317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quartier, description, source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41"/>
          <p:cNvSpPr/>
          <p:nvPr/>
        </p:nvSpPr>
        <p:spPr>
          <a:xfrm>
            <a:off x="7452360" y="23317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Localisation &amp; texte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42"/>
          <p:cNvSpPr/>
          <p:nvPr/>
        </p:nvSpPr>
        <p:spPr>
          <a:xfrm>
            <a:off x="4846320" y="2651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caracteristiques, date_publication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43"/>
          <p:cNvSpPr/>
          <p:nvPr/>
        </p:nvSpPr>
        <p:spPr>
          <a:xfrm>
            <a:off x="7452360" y="26517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Équipements &amp; date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44"/>
          <p:cNvSpPr/>
          <p:nvPr/>
        </p:nvSpPr>
        <p:spPr>
          <a:xfrm>
            <a:off x="4709160" y="2999160"/>
            <a:ext cx="4114440" cy="1343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45"/>
          <p:cNvSpPr/>
          <p:nvPr/>
        </p:nvSpPr>
        <p:spPr>
          <a:xfrm>
            <a:off x="4709160" y="2999160"/>
            <a:ext cx="411444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6"/>
          <p:cNvSpPr/>
          <p:nvPr/>
        </p:nvSpPr>
        <p:spPr>
          <a:xfrm>
            <a:off x="4846320" y="309060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ÉTHIQUE DU SCRAPING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7"/>
          <p:cNvSpPr/>
          <p:nvPr/>
        </p:nvSpPr>
        <p:spPr>
          <a:xfrm>
            <a:off x="4846320" y="340164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Respect du robots.txt de chaque site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48"/>
          <p:cNvSpPr/>
          <p:nvPr/>
        </p:nvSpPr>
        <p:spPr>
          <a:xfrm>
            <a:off x="4846320" y="363924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Pauses entre requêtes (time.sleep(2))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49"/>
          <p:cNvSpPr/>
          <p:nvPr/>
        </p:nvSpPr>
        <p:spPr>
          <a:xfrm>
            <a:off x="4846320" y="387720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Anonymisation des numéros de téléphone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50"/>
          <p:cNvSpPr/>
          <p:nvPr/>
        </p:nvSpPr>
        <p:spPr>
          <a:xfrm>
            <a:off x="4846320" y="411480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Usage académique uniquement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2 — Géo-Enrichissement (OpenStreetMap)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02c39a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7223760" y="2012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274680" y="1627920"/>
            <a:ext cx="429732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274680" y="1627920"/>
            <a:ext cx="54360" cy="1115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457200" y="167364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GPS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1005840" y="16279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Géocodage Nominatim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1005840" y="1828800"/>
            <a:ext cx="3428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Conversion des noms de quartiers → coordonnées GPS (lat/lon) via l'API gratuite OpenStreetMap/Nominatim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2057400" y="2971800"/>
            <a:ext cx="4568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457200" y="238644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1005840" y="23227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1005840" y="2633400"/>
            <a:ext cx="3428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2011680" y="3383280"/>
            <a:ext cx="4568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320040" y="3228120"/>
            <a:ext cx="4297320" cy="1115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320040" y="3228120"/>
            <a:ext cx="54360" cy="1115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457200" y="342900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Calibri"/>
              </a:rPr>
              <a:t>POI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1005840" y="33652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API Overpass — POI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959760" y="3657600"/>
            <a:ext cx="3428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Points d'intérêt dans un rayon de 1 km : écoles, mosquées, commerces, hôpitaux → proxy de densité urbaine.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4800600" y="987480"/>
            <a:ext cx="4023000" cy="2304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4937760" y="10605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FEATURES GÉOGRAPHIQUES CRÉÉES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24"/>
          <p:cNvSpPr/>
          <p:nvPr/>
        </p:nvSpPr>
        <p:spPr>
          <a:xfrm>
            <a:off x="4846320" y="1380600"/>
            <a:ext cx="3931560" cy="205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4937760" y="140832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latitude, longitude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6"/>
          <p:cNvSpPr/>
          <p:nvPr/>
        </p:nvSpPr>
        <p:spPr>
          <a:xfrm>
            <a:off x="7360920" y="140832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GPS Nominatim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7"/>
          <p:cNvSpPr/>
          <p:nvPr/>
        </p:nvSpPr>
        <p:spPr>
          <a:xfrm>
            <a:off x="4937760" y="16232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dist_centre_ville_km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7360920" y="162324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Haversine → Ksar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29"/>
          <p:cNvSpPr/>
          <p:nvPr/>
        </p:nvSpPr>
        <p:spPr>
          <a:xfrm>
            <a:off x="4846320" y="1810440"/>
            <a:ext cx="3931560" cy="205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0"/>
          <p:cNvSpPr/>
          <p:nvPr/>
        </p:nvSpPr>
        <p:spPr>
          <a:xfrm>
            <a:off x="4937760" y="183780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dist_aeroport_km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31"/>
          <p:cNvSpPr/>
          <p:nvPr/>
        </p:nvSpPr>
        <p:spPr>
          <a:xfrm>
            <a:off x="7360920" y="18378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Haversine → Oumtounsy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4937760" y="205272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dist_plage_km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33"/>
          <p:cNvSpPr/>
          <p:nvPr/>
        </p:nvSpPr>
        <p:spPr>
          <a:xfrm>
            <a:off x="7360920" y="205272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Haversine → côte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4"/>
          <p:cNvSpPr/>
          <p:nvPr/>
        </p:nvSpPr>
        <p:spPr>
          <a:xfrm>
            <a:off x="4846320" y="2240280"/>
            <a:ext cx="3931560" cy="205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35"/>
          <p:cNvSpPr/>
          <p:nvPr/>
        </p:nvSpPr>
        <p:spPr>
          <a:xfrm>
            <a:off x="4937760" y="22676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nb_ecoles_1km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7360920" y="226764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Overpass 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37"/>
          <p:cNvSpPr/>
          <p:nvPr/>
        </p:nvSpPr>
        <p:spPr>
          <a:xfrm>
            <a:off x="4937760" y="248256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nb_mosquees_1km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38"/>
          <p:cNvSpPr/>
          <p:nvPr/>
        </p:nvSpPr>
        <p:spPr>
          <a:xfrm>
            <a:off x="7360920" y="248256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Overpass 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39"/>
          <p:cNvSpPr/>
          <p:nvPr/>
        </p:nvSpPr>
        <p:spPr>
          <a:xfrm>
            <a:off x="4846320" y="2670120"/>
            <a:ext cx="3931560" cy="205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40"/>
          <p:cNvSpPr/>
          <p:nvPr/>
        </p:nvSpPr>
        <p:spPr>
          <a:xfrm>
            <a:off x="4937760" y="269748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nb_commerces_1km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41"/>
          <p:cNvSpPr/>
          <p:nvPr/>
        </p:nvSpPr>
        <p:spPr>
          <a:xfrm>
            <a:off x="7360920" y="269748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Overpass 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42"/>
          <p:cNvSpPr/>
          <p:nvPr/>
        </p:nvSpPr>
        <p:spPr>
          <a:xfrm>
            <a:off x="4937760" y="291240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nb_hopitaux_1km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43"/>
          <p:cNvSpPr/>
          <p:nvPr/>
        </p:nvSpPr>
        <p:spPr>
          <a:xfrm>
            <a:off x="7360920" y="29124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Overpass 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44"/>
          <p:cNvSpPr/>
          <p:nvPr/>
        </p:nvSpPr>
        <p:spPr>
          <a:xfrm>
            <a:off x="4846320" y="3099960"/>
            <a:ext cx="3931560" cy="205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45"/>
          <p:cNvSpPr/>
          <p:nvPr/>
        </p:nvSpPr>
        <p:spPr>
          <a:xfrm>
            <a:off x="4937760" y="312732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nsolas"/>
                <a:ea typeface="Consolas"/>
              </a:rPr>
              <a:t>nb_total_pois_1km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46"/>
          <p:cNvSpPr/>
          <p:nvPr/>
        </p:nvSpPr>
        <p:spPr>
          <a:xfrm>
            <a:off x="7360920" y="312732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Proxy urbanisation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48"/>
          <p:cNvSpPr/>
          <p:nvPr/>
        </p:nvSpPr>
        <p:spPr>
          <a:xfrm>
            <a:off x="4800600" y="3727440"/>
            <a:ext cx="402300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49"/>
          <p:cNvSpPr/>
          <p:nvPr/>
        </p:nvSpPr>
        <p:spPr>
          <a:xfrm>
            <a:off x="4937760" y="4171680"/>
            <a:ext cx="374868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3 — EDA Complète (Roadmap 8 Étapes)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f59e0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320040" y="98748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20040" y="987480"/>
            <a:ext cx="54360" cy="840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457200" y="1097280"/>
            <a:ext cx="420120" cy="4201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457200" y="10972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b4d8"/>
                </a:solidFill>
                <a:latin typeface="Calibri"/>
                <a:ea typeface="Calibri"/>
              </a:rPr>
              <a:t>01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978480" y="107892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Chargement &amp; Inspection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978480" y="138996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Types, dimensions, aperçu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4754880" y="98748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4754880" y="987480"/>
            <a:ext cx="54360" cy="840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4892040" y="1097280"/>
            <a:ext cx="420120" cy="4201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4892040" y="10972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b4d8"/>
                </a:solidFill>
                <a:latin typeface="Calibri"/>
                <a:ea typeface="Calibri"/>
              </a:rPr>
              <a:t>02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5413320" y="107892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Nettoyage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5413320" y="138996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Devises → MRU, quartiers normalisés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7"/>
          <p:cNvSpPr/>
          <p:nvPr/>
        </p:nvSpPr>
        <p:spPr>
          <a:xfrm>
            <a:off x="320040" y="197496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18"/>
          <p:cNvSpPr/>
          <p:nvPr/>
        </p:nvSpPr>
        <p:spPr>
          <a:xfrm>
            <a:off x="320040" y="1974960"/>
            <a:ext cx="54360" cy="840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9"/>
          <p:cNvSpPr/>
          <p:nvPr/>
        </p:nvSpPr>
        <p:spPr>
          <a:xfrm>
            <a:off x="457200" y="2084760"/>
            <a:ext cx="420120" cy="4201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457200" y="2084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  <a:ea typeface="Calibri"/>
              </a:rPr>
              <a:t>03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1"/>
          <p:cNvSpPr/>
          <p:nvPr/>
        </p:nvSpPr>
        <p:spPr>
          <a:xfrm>
            <a:off x="978480" y="206640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Valeurs manquantes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2"/>
          <p:cNvSpPr/>
          <p:nvPr/>
        </p:nvSpPr>
        <p:spPr>
          <a:xfrm>
            <a:off x="978480" y="237744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MCAR / MAR / MNAR identifiés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23"/>
          <p:cNvSpPr/>
          <p:nvPr/>
        </p:nvSpPr>
        <p:spPr>
          <a:xfrm>
            <a:off x="4754880" y="197496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24"/>
          <p:cNvSpPr/>
          <p:nvPr/>
        </p:nvSpPr>
        <p:spPr>
          <a:xfrm>
            <a:off x="4754880" y="1974960"/>
            <a:ext cx="54360" cy="840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5"/>
          <p:cNvSpPr/>
          <p:nvPr/>
        </p:nvSpPr>
        <p:spPr>
          <a:xfrm>
            <a:off x="4892040" y="2084760"/>
            <a:ext cx="420120" cy="4201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6"/>
          <p:cNvSpPr/>
          <p:nvPr/>
        </p:nvSpPr>
        <p:spPr>
          <a:xfrm>
            <a:off x="4892040" y="2084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  <a:ea typeface="Calibri"/>
              </a:rPr>
              <a:t>04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27"/>
          <p:cNvSpPr/>
          <p:nvPr/>
        </p:nvSpPr>
        <p:spPr>
          <a:xfrm>
            <a:off x="5413320" y="206640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Outliers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8"/>
          <p:cNvSpPr/>
          <p:nvPr/>
        </p:nvSpPr>
        <p:spPr>
          <a:xfrm>
            <a:off x="5413320" y="237744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Contexte métier mauritanien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29"/>
          <p:cNvSpPr/>
          <p:nvPr/>
        </p:nvSpPr>
        <p:spPr>
          <a:xfrm>
            <a:off x="320040" y="296280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30"/>
          <p:cNvSpPr/>
          <p:nvPr/>
        </p:nvSpPr>
        <p:spPr>
          <a:xfrm>
            <a:off x="320040" y="2962800"/>
            <a:ext cx="54360" cy="840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1"/>
          <p:cNvSpPr/>
          <p:nvPr/>
        </p:nvSpPr>
        <p:spPr>
          <a:xfrm>
            <a:off x="457200" y="3072240"/>
            <a:ext cx="420120" cy="42012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2"/>
          <p:cNvSpPr/>
          <p:nvPr/>
        </p:nvSpPr>
        <p:spPr>
          <a:xfrm>
            <a:off x="457200" y="30722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05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33"/>
          <p:cNvSpPr/>
          <p:nvPr/>
        </p:nvSpPr>
        <p:spPr>
          <a:xfrm>
            <a:off x="978480" y="305424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Analyse univariée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4"/>
          <p:cNvSpPr/>
          <p:nvPr/>
        </p:nvSpPr>
        <p:spPr>
          <a:xfrm>
            <a:off x="978480" y="336492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Distribution prix, surface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35"/>
          <p:cNvSpPr/>
          <p:nvPr/>
        </p:nvSpPr>
        <p:spPr>
          <a:xfrm>
            <a:off x="4754880" y="296280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36"/>
          <p:cNvSpPr/>
          <p:nvPr/>
        </p:nvSpPr>
        <p:spPr>
          <a:xfrm>
            <a:off x="4754880" y="2962800"/>
            <a:ext cx="54360" cy="840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37"/>
          <p:cNvSpPr/>
          <p:nvPr/>
        </p:nvSpPr>
        <p:spPr>
          <a:xfrm>
            <a:off x="4892040" y="3072240"/>
            <a:ext cx="420120" cy="42012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8"/>
          <p:cNvSpPr/>
          <p:nvPr/>
        </p:nvSpPr>
        <p:spPr>
          <a:xfrm>
            <a:off x="4892040" y="30722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06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9"/>
          <p:cNvSpPr/>
          <p:nvPr/>
        </p:nvSpPr>
        <p:spPr>
          <a:xfrm>
            <a:off x="5413320" y="305424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Analyse bivariée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5413320" y="336492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Prix vs quartier, surface, pièces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41"/>
          <p:cNvSpPr/>
          <p:nvPr/>
        </p:nvSpPr>
        <p:spPr>
          <a:xfrm>
            <a:off x="320040" y="395028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42"/>
          <p:cNvSpPr/>
          <p:nvPr/>
        </p:nvSpPr>
        <p:spPr>
          <a:xfrm>
            <a:off x="320040" y="3950280"/>
            <a:ext cx="54360" cy="8409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43"/>
          <p:cNvSpPr/>
          <p:nvPr/>
        </p:nvSpPr>
        <p:spPr>
          <a:xfrm>
            <a:off x="457200" y="4060080"/>
            <a:ext cx="420120" cy="42012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44"/>
          <p:cNvSpPr/>
          <p:nvPr/>
        </p:nvSpPr>
        <p:spPr>
          <a:xfrm>
            <a:off x="457200" y="4060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818cf8"/>
                </a:solidFill>
                <a:latin typeface="Calibri"/>
                <a:ea typeface="Calibri"/>
              </a:rPr>
              <a:t>07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5"/>
          <p:cNvSpPr/>
          <p:nvPr/>
        </p:nvSpPr>
        <p:spPr>
          <a:xfrm>
            <a:off x="978480" y="404172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Analyse multivariée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6"/>
          <p:cNvSpPr/>
          <p:nvPr/>
        </p:nvSpPr>
        <p:spPr>
          <a:xfrm>
            <a:off x="978480" y="435240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Corrélations, PCA géographique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47"/>
          <p:cNvSpPr/>
          <p:nvPr/>
        </p:nvSpPr>
        <p:spPr>
          <a:xfrm>
            <a:off x="4754880" y="3950280"/>
            <a:ext cx="4205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48"/>
          <p:cNvSpPr/>
          <p:nvPr/>
        </p:nvSpPr>
        <p:spPr>
          <a:xfrm>
            <a:off x="4754880" y="3950280"/>
            <a:ext cx="54360" cy="8409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49"/>
          <p:cNvSpPr/>
          <p:nvPr/>
        </p:nvSpPr>
        <p:spPr>
          <a:xfrm>
            <a:off x="4892040" y="4060080"/>
            <a:ext cx="420120" cy="42012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50"/>
          <p:cNvSpPr/>
          <p:nvPr/>
        </p:nvSpPr>
        <p:spPr>
          <a:xfrm>
            <a:off x="4892040" y="4060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818cf8"/>
                </a:solidFill>
                <a:latin typeface="Calibri"/>
                <a:ea typeface="Calibri"/>
              </a:rPr>
              <a:t>08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51"/>
          <p:cNvSpPr/>
          <p:nvPr/>
        </p:nvSpPr>
        <p:spPr>
          <a:xfrm>
            <a:off x="5413320" y="404172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Préparation modélisation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52"/>
          <p:cNvSpPr/>
          <p:nvPr/>
        </p:nvSpPr>
        <p:spPr>
          <a:xfrm>
            <a:off x="5413320" y="4352400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Encodage, log-transform, split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53"/>
          <p:cNvSpPr/>
          <p:nvPr/>
        </p:nvSpPr>
        <p:spPr>
          <a:xfrm>
            <a:off x="320040" y="4663440"/>
            <a:ext cx="8503560" cy="34704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54"/>
          <p:cNvSpPr/>
          <p:nvPr/>
        </p:nvSpPr>
        <p:spPr>
          <a:xfrm>
            <a:off x="457200" y="466344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Calibri"/>
              </a:rPr>
              <a:t>Découverte clé : </a:t>
            </a: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Calibri"/>
              </a:rPr>
              <a:t>Prix médian Tevragh Zeina ≈ 7.5× Riyadh  ·  nb_sdb manquant à 72%  ·  Texte multilingue FR+AR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3 — Visualisations EDA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f59e0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0" descr="preencoded.png"/>
          <p:cNvPicPr/>
          <p:nvPr/>
        </p:nvPicPr>
        <p:blipFill>
          <a:blip r:embed="rId1"/>
          <a:stretch/>
        </p:blipFill>
        <p:spPr>
          <a:xfrm>
            <a:off x="320040" y="960120"/>
            <a:ext cx="5394600" cy="1846800"/>
          </a:xfrm>
          <a:prstGeom prst="rect">
            <a:avLst/>
          </a:prstGeom>
          <a:ln w="0">
            <a:noFill/>
          </a:ln>
        </p:spPr>
      </p:pic>
      <p:sp>
        <p:nvSpPr>
          <p:cNvPr id="238" name="Shape 5"/>
          <p:cNvSpPr/>
          <p:nvPr/>
        </p:nvSpPr>
        <p:spPr>
          <a:xfrm>
            <a:off x="320040" y="960120"/>
            <a:ext cx="5394600" cy="1846800"/>
          </a:xfrm>
          <a:prstGeom prst="rect">
            <a:avLst/>
          </a:prstGeom>
          <a:noFill/>
          <a:ln w="10160">
            <a:solidFill>
              <a:srgbClr val="334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1" descr="preencoded.png"/>
          <p:cNvPicPr/>
          <p:nvPr/>
        </p:nvPicPr>
        <p:blipFill>
          <a:blip r:embed="rId2"/>
          <a:stretch/>
        </p:blipFill>
        <p:spPr>
          <a:xfrm>
            <a:off x="5852160" y="960120"/>
            <a:ext cx="2971440" cy="1846800"/>
          </a:xfrm>
          <a:prstGeom prst="rect">
            <a:avLst/>
          </a:prstGeom>
          <a:ln w="0">
            <a:noFill/>
          </a:ln>
        </p:spPr>
      </p:pic>
      <p:sp>
        <p:nvSpPr>
          <p:cNvPr id="240" name="Shape 6"/>
          <p:cNvSpPr/>
          <p:nvPr/>
        </p:nvSpPr>
        <p:spPr>
          <a:xfrm>
            <a:off x="5852160" y="960120"/>
            <a:ext cx="2971440" cy="1846800"/>
          </a:xfrm>
          <a:prstGeom prst="rect">
            <a:avLst/>
          </a:prstGeom>
          <a:noFill/>
          <a:ln w="10160">
            <a:solidFill>
              <a:srgbClr val="334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320040" y="2834640"/>
            <a:ext cx="5394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59e0b"/>
                </a:solidFill>
                <a:latin typeface="Calibri"/>
                <a:ea typeface="Calibri"/>
              </a:rPr>
              <a:t>Étape 5.1 — Analyse Univariée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8"/>
          <p:cNvSpPr/>
          <p:nvPr/>
        </p:nvSpPr>
        <p:spPr>
          <a:xfrm>
            <a:off x="5852160" y="2834640"/>
            <a:ext cx="2971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59e0b"/>
                </a:solidFill>
                <a:latin typeface="Calibri"/>
                <a:ea typeface="Calibri"/>
              </a:rPr>
              <a:t>Étape 4 — Analyse des Outliers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Image 2" descr="preencoded.png"/>
          <p:cNvPicPr/>
          <p:nvPr/>
        </p:nvPicPr>
        <p:blipFill>
          <a:blip r:embed="rId3"/>
          <a:stretch/>
        </p:blipFill>
        <p:spPr>
          <a:xfrm>
            <a:off x="320040" y="3090600"/>
            <a:ext cx="5394600" cy="1919880"/>
          </a:xfrm>
          <a:prstGeom prst="rect">
            <a:avLst/>
          </a:prstGeom>
          <a:ln w="0">
            <a:noFill/>
          </a:ln>
        </p:spPr>
      </p:pic>
      <p:sp>
        <p:nvSpPr>
          <p:cNvPr id="244" name="Shape 9"/>
          <p:cNvSpPr/>
          <p:nvPr/>
        </p:nvSpPr>
        <p:spPr>
          <a:xfrm>
            <a:off x="320040" y="3090600"/>
            <a:ext cx="5394600" cy="1919880"/>
          </a:xfrm>
          <a:prstGeom prst="rect">
            <a:avLst/>
          </a:prstGeom>
          <a:noFill/>
          <a:ln w="10160">
            <a:solidFill>
              <a:srgbClr val="334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5" name="Image 3" descr="preencoded.png"/>
          <p:cNvPicPr/>
          <p:nvPr/>
        </p:nvPicPr>
        <p:blipFill>
          <a:blip r:embed="rId4"/>
          <a:stretch/>
        </p:blipFill>
        <p:spPr>
          <a:xfrm>
            <a:off x="5852160" y="3090600"/>
            <a:ext cx="2971440" cy="1919880"/>
          </a:xfrm>
          <a:prstGeom prst="rect">
            <a:avLst/>
          </a:prstGeom>
          <a:ln w="0">
            <a:noFill/>
          </a:ln>
        </p:spPr>
      </p:pic>
      <p:sp>
        <p:nvSpPr>
          <p:cNvPr id="246" name="Shape 10"/>
          <p:cNvSpPr/>
          <p:nvPr/>
        </p:nvSpPr>
        <p:spPr>
          <a:xfrm>
            <a:off x="5852160" y="3090600"/>
            <a:ext cx="2971440" cy="1919880"/>
          </a:xfrm>
          <a:prstGeom prst="rect">
            <a:avLst/>
          </a:prstGeom>
          <a:noFill/>
          <a:ln w="10160">
            <a:solidFill>
              <a:srgbClr val="334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320040" y="5029200"/>
            <a:ext cx="539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59e0b"/>
                </a:solidFill>
                <a:latin typeface="Calibri"/>
                <a:ea typeface="Calibri"/>
              </a:rPr>
              <a:t>Étape 5.2 — Analyse Bivariée (prix/quartier, surface, chambres)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5852160" y="5029200"/>
            <a:ext cx="297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59e0b"/>
                </a:solidFill>
                <a:latin typeface="Calibri"/>
                <a:ea typeface="Calibri"/>
              </a:rPr>
              <a:t>Matrice de Corrélation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4 — Feature Engineering &amp; Modélisation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818cf8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7223760" y="2012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5"/>
          <p:cNvSpPr/>
          <p:nvPr/>
        </p:nvSpPr>
        <p:spPr>
          <a:xfrm>
            <a:off x="320040" y="960120"/>
            <a:ext cx="4160160" cy="393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457200" y="102420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18cf8"/>
                </a:solidFill>
                <a:latin typeface="Calibri"/>
                <a:ea typeface="Calibri"/>
              </a:rPr>
              <a:t>FEATURES UTILISÉES (117 TOTAL)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384120" y="1389960"/>
            <a:ext cx="54360" cy="895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548640" y="138996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STRUCTURELLES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548640" y="160920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surface_m2, nb_chambres, nb_salons, nb_sdb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548640" y="184716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surface_par_piece, densite_pieces, log_surface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548640" y="208476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has_piscine, has_garage, has_clim, has_titre_foncier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12"/>
          <p:cNvSpPr/>
          <p:nvPr/>
        </p:nvSpPr>
        <p:spPr>
          <a:xfrm>
            <a:off x="384120" y="2432160"/>
            <a:ext cx="54360" cy="895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548640" y="243216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c39a"/>
                </a:solidFill>
                <a:latin typeface="Calibri"/>
                <a:ea typeface="Calibri"/>
              </a:rPr>
              <a:t>GÉOGRAPHIQUES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4"/>
          <p:cNvSpPr/>
          <p:nvPr/>
        </p:nvSpPr>
        <p:spPr>
          <a:xfrm>
            <a:off x="548640" y="265176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latitude, longitude (Nominatim)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548640" y="288936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dist_centre_ville_km, dist_aeroport_km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548640" y="312732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nb_ecoles/mosquees/commerces_1km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7"/>
          <p:cNvSpPr/>
          <p:nvPr/>
        </p:nvSpPr>
        <p:spPr>
          <a:xfrm>
            <a:off x="384120" y="3474720"/>
            <a:ext cx="54360" cy="895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548640" y="347472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TEXTUELLES (NLP)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548640" y="369432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TF-IDF FR bigrams → SVD 25 composantes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20"/>
          <p:cNvSpPr/>
          <p:nvPr/>
        </p:nvSpPr>
        <p:spPr>
          <a:xfrm>
            <a:off x="548640" y="393192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TF-IDF AR char n-grams → SVD 25 composantes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1"/>
          <p:cNvSpPr/>
          <p:nvPr/>
        </p:nvSpPr>
        <p:spPr>
          <a:xfrm>
            <a:off x="548640" y="416952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Extraction prix + flags luxe, meublé…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22"/>
          <p:cNvSpPr/>
          <p:nvPr/>
        </p:nvSpPr>
        <p:spPr>
          <a:xfrm>
            <a:off x="384120" y="4517280"/>
            <a:ext cx="54360" cy="658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548640" y="451728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18cf8"/>
                </a:solidFill>
                <a:latin typeface="Calibri"/>
                <a:ea typeface="Calibri"/>
              </a:rPr>
              <a:t>ENCODAGE CIBLE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4"/>
          <p:cNvSpPr/>
          <p:nvPr/>
        </p:nvSpPr>
        <p:spPr>
          <a:xfrm>
            <a:off x="548640" y="473652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Smoothed target encoding (k=30) du quartier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5"/>
          <p:cNvSpPr/>
          <p:nvPr/>
        </p:nvSpPr>
        <p:spPr>
          <a:xfrm>
            <a:off x="548640" y="497448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Recalculé à chaque fold (pas de leakage)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6"/>
          <p:cNvSpPr/>
          <p:nvPr/>
        </p:nvSpPr>
        <p:spPr>
          <a:xfrm>
            <a:off x="4663440" y="960120"/>
            <a:ext cx="4160160" cy="393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4800600" y="102420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18cf8"/>
                </a:solidFill>
                <a:latin typeface="Calibri"/>
                <a:ea typeface="Calibri"/>
              </a:rPr>
              <a:t>MODÈLES TESTÉS ET COMPARÉS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28"/>
          <p:cNvSpPr/>
          <p:nvPr/>
        </p:nvSpPr>
        <p:spPr>
          <a:xfrm>
            <a:off x="4736520" y="1389960"/>
            <a:ext cx="4023000" cy="456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9"/>
          <p:cNvSpPr/>
          <p:nvPr/>
        </p:nvSpPr>
        <p:spPr>
          <a:xfrm>
            <a:off x="4736520" y="1481400"/>
            <a:ext cx="45360" cy="273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0"/>
          <p:cNvSpPr/>
          <p:nvPr/>
        </p:nvSpPr>
        <p:spPr>
          <a:xfrm>
            <a:off x="4864680" y="14446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Régression Ridge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1"/>
          <p:cNvSpPr/>
          <p:nvPr/>
        </p:nvSpPr>
        <p:spPr>
          <a:xfrm>
            <a:off x="4864680" y="164592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Baseline régularisée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32"/>
          <p:cNvSpPr/>
          <p:nvPr/>
        </p:nvSpPr>
        <p:spPr>
          <a:xfrm>
            <a:off x="4736520" y="1929240"/>
            <a:ext cx="4023000" cy="456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33"/>
          <p:cNvSpPr/>
          <p:nvPr/>
        </p:nvSpPr>
        <p:spPr>
          <a:xfrm>
            <a:off x="4736520" y="2020680"/>
            <a:ext cx="45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34"/>
          <p:cNvSpPr/>
          <p:nvPr/>
        </p:nvSpPr>
        <p:spPr>
          <a:xfrm>
            <a:off x="4864680" y="19843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Random Forest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5"/>
          <p:cNvSpPr/>
          <p:nvPr/>
        </p:nvSpPr>
        <p:spPr>
          <a:xfrm>
            <a:off x="4864680" y="218556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Non-linéaire, robuste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36"/>
          <p:cNvSpPr/>
          <p:nvPr/>
        </p:nvSpPr>
        <p:spPr>
          <a:xfrm>
            <a:off x="4736520" y="2468880"/>
            <a:ext cx="4023000" cy="456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37"/>
          <p:cNvSpPr/>
          <p:nvPr/>
        </p:nvSpPr>
        <p:spPr>
          <a:xfrm>
            <a:off x="4736520" y="2560320"/>
            <a:ext cx="45360" cy="273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38"/>
          <p:cNvSpPr/>
          <p:nvPr/>
        </p:nvSpPr>
        <p:spPr>
          <a:xfrm>
            <a:off x="4864680" y="252360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ExtraTrees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39"/>
          <p:cNvSpPr/>
          <p:nvPr/>
        </p:nvSpPr>
        <p:spPr>
          <a:xfrm>
            <a:off x="4864680" y="27248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Variance réduite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40"/>
          <p:cNvSpPr/>
          <p:nvPr/>
        </p:nvSpPr>
        <p:spPr>
          <a:xfrm>
            <a:off x="4736520" y="3008520"/>
            <a:ext cx="4023000" cy="456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41"/>
          <p:cNvSpPr/>
          <p:nvPr/>
        </p:nvSpPr>
        <p:spPr>
          <a:xfrm>
            <a:off x="4736520" y="3099960"/>
            <a:ext cx="45360" cy="273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42"/>
          <p:cNvSpPr/>
          <p:nvPr/>
        </p:nvSpPr>
        <p:spPr>
          <a:xfrm>
            <a:off x="4864680" y="306324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XGBoost (tuné Optuna)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3"/>
          <p:cNvSpPr/>
          <p:nvPr/>
        </p:nvSpPr>
        <p:spPr>
          <a:xfrm>
            <a:off x="4864680" y="326448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Meilleur booster tabular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44"/>
          <p:cNvSpPr/>
          <p:nvPr/>
        </p:nvSpPr>
        <p:spPr>
          <a:xfrm>
            <a:off x="4736520" y="3547800"/>
            <a:ext cx="4023000" cy="456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45"/>
          <p:cNvSpPr/>
          <p:nvPr/>
        </p:nvSpPr>
        <p:spPr>
          <a:xfrm>
            <a:off x="4736520" y="3639240"/>
            <a:ext cx="45360" cy="273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46"/>
          <p:cNvSpPr/>
          <p:nvPr/>
        </p:nvSpPr>
        <p:spPr>
          <a:xfrm>
            <a:off x="4864680" y="36028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LightGBM (tuné Optuna)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47"/>
          <p:cNvSpPr/>
          <p:nvPr/>
        </p:nvSpPr>
        <p:spPr>
          <a:xfrm>
            <a:off x="4864680" y="380376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Rapide, performant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48"/>
          <p:cNvSpPr/>
          <p:nvPr/>
        </p:nvSpPr>
        <p:spPr>
          <a:xfrm>
            <a:off x="4736520" y="4087440"/>
            <a:ext cx="4023000" cy="456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49"/>
          <p:cNvSpPr/>
          <p:nvPr/>
        </p:nvSpPr>
        <p:spPr>
          <a:xfrm>
            <a:off x="4736520" y="4178880"/>
            <a:ext cx="45360" cy="273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50"/>
          <p:cNvSpPr/>
          <p:nvPr/>
        </p:nvSpPr>
        <p:spPr>
          <a:xfrm>
            <a:off x="4864680" y="41421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8f0"/>
                </a:solidFill>
                <a:latin typeface="Calibri"/>
                <a:ea typeface="Calibri"/>
              </a:rPr>
              <a:t>CatBoost (tuné Optuna)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51"/>
          <p:cNvSpPr/>
          <p:nvPr/>
        </p:nvSpPr>
        <p:spPr>
          <a:xfrm>
            <a:off x="4864680" y="434340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Données catégorielles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52"/>
          <p:cNvSpPr/>
          <p:nvPr/>
        </p:nvSpPr>
        <p:spPr>
          <a:xfrm>
            <a:off x="4736520" y="4663440"/>
            <a:ext cx="4023000" cy="228240"/>
          </a:xfrm>
          <a:prstGeom prst="rect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53"/>
          <p:cNvSpPr/>
          <p:nvPr/>
        </p:nvSpPr>
        <p:spPr>
          <a:xfrm>
            <a:off x="4800600" y="466344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18cf8"/>
                </a:solidFill>
                <a:latin typeface="Calibri"/>
                <a:ea typeface="Calibri"/>
              </a:rPr>
              <a:t>Évaluation : 5-fold CV · Métrique : RMSLE · Hyperparamètres : Optuna (100 trials)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4 — Résultats &amp; Comparaison des Modèles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818cf8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7223760" y="2012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6" name="Image 0" descr="preencoded.png"/>
          <p:cNvPicPr/>
          <p:nvPr/>
        </p:nvPicPr>
        <p:blipFill>
          <a:blip r:embed="rId1"/>
          <a:stretch/>
        </p:blipFill>
        <p:spPr>
          <a:xfrm>
            <a:off x="320040" y="960120"/>
            <a:ext cx="4160160" cy="2057040"/>
          </a:xfrm>
          <a:prstGeom prst="rect">
            <a:avLst/>
          </a:prstGeom>
          <a:ln w="0">
            <a:noFill/>
          </a:ln>
        </p:spPr>
      </p:pic>
      <p:sp>
        <p:nvSpPr>
          <p:cNvPr id="307" name="Shape 5"/>
          <p:cNvSpPr/>
          <p:nvPr/>
        </p:nvSpPr>
        <p:spPr>
          <a:xfrm>
            <a:off x="320040" y="960120"/>
            <a:ext cx="4160160" cy="2057040"/>
          </a:xfrm>
          <a:prstGeom prst="rect">
            <a:avLst/>
          </a:prstGeom>
          <a:noFill/>
          <a:ln w="10160">
            <a:solidFill>
              <a:srgbClr val="334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320040" y="3035880"/>
            <a:ext cx="4160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818cf8"/>
                </a:solidFill>
                <a:latin typeface="Calibri"/>
                <a:ea typeface="Calibri"/>
              </a:rPr>
              <a:t>Étape 6.4 — Comparaison RMSLE &amp; R² de tous les modèles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9" name="Image 1" descr="preencoded.png"/>
          <p:cNvPicPr/>
          <p:nvPr/>
        </p:nvPicPr>
        <p:blipFill>
          <a:blip r:embed="rId2"/>
          <a:stretch/>
        </p:blipFill>
        <p:spPr>
          <a:xfrm>
            <a:off x="320040" y="3291840"/>
            <a:ext cx="2011320" cy="1691280"/>
          </a:xfrm>
          <a:prstGeom prst="rect">
            <a:avLst/>
          </a:prstGeom>
          <a:ln w="0">
            <a:noFill/>
          </a:ln>
        </p:spPr>
      </p:pic>
      <p:sp>
        <p:nvSpPr>
          <p:cNvPr id="310" name="Shape 7"/>
          <p:cNvSpPr/>
          <p:nvPr/>
        </p:nvSpPr>
        <p:spPr>
          <a:xfrm>
            <a:off x="320040" y="3291840"/>
            <a:ext cx="2011320" cy="1691280"/>
          </a:xfrm>
          <a:prstGeom prst="rect">
            <a:avLst/>
          </a:prstGeom>
          <a:noFill/>
          <a:ln w="10160">
            <a:solidFill>
              <a:srgbClr val="334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1" name="Image 2" descr="preencoded.png"/>
          <p:cNvPicPr/>
          <p:nvPr/>
        </p:nvPicPr>
        <p:blipFill>
          <a:blip r:embed="rId3"/>
          <a:stretch/>
        </p:blipFill>
        <p:spPr>
          <a:xfrm>
            <a:off x="2423160" y="3291840"/>
            <a:ext cx="2011320" cy="1691280"/>
          </a:xfrm>
          <a:prstGeom prst="rect">
            <a:avLst/>
          </a:prstGeom>
          <a:ln w="0">
            <a:noFill/>
          </a:ln>
        </p:spPr>
      </p:pic>
      <p:sp>
        <p:nvSpPr>
          <p:cNvPr id="312" name="Shape 8"/>
          <p:cNvSpPr/>
          <p:nvPr/>
        </p:nvSpPr>
        <p:spPr>
          <a:xfrm>
            <a:off x="2423160" y="3291840"/>
            <a:ext cx="2011320" cy="1691280"/>
          </a:xfrm>
          <a:prstGeom prst="rect">
            <a:avLst/>
          </a:prstGeom>
          <a:noFill/>
          <a:ln w="10160">
            <a:solidFill>
              <a:srgbClr val="334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9"/>
          <p:cNvSpPr/>
          <p:nvPr/>
        </p:nvSpPr>
        <p:spPr>
          <a:xfrm>
            <a:off x="320040" y="5001840"/>
            <a:ext cx="201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818cf8"/>
                </a:solidFill>
                <a:latin typeface="Calibri"/>
                <a:ea typeface="Calibri"/>
              </a:rPr>
              <a:t>Feature Importance (RF)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0"/>
          <p:cNvSpPr/>
          <p:nvPr/>
        </p:nvSpPr>
        <p:spPr>
          <a:xfrm>
            <a:off x="2423160" y="5001840"/>
            <a:ext cx="201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818cf8"/>
                </a:solidFill>
                <a:latin typeface="Calibri"/>
                <a:ea typeface="Calibri"/>
              </a:rPr>
              <a:t>Réel vs Prédit (RF)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1"/>
          <p:cNvSpPr/>
          <p:nvPr/>
        </p:nvSpPr>
        <p:spPr>
          <a:xfrm>
            <a:off x="4663440" y="960120"/>
            <a:ext cx="4160160" cy="3913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2"/>
          <p:cNvSpPr/>
          <p:nvPr/>
        </p:nvSpPr>
        <p:spPr>
          <a:xfrm>
            <a:off x="4800600" y="102420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18cf8"/>
                </a:solidFill>
                <a:latin typeface="Calibri"/>
                <a:ea typeface="Calibri"/>
              </a:rPr>
              <a:t>RÉSULTATS (CHIFFRES DU NOTEBOOK)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3"/>
          <p:cNvSpPr/>
          <p:nvPr/>
        </p:nvSpPr>
        <p:spPr>
          <a:xfrm>
            <a:off x="4800600" y="1353240"/>
            <a:ext cx="2102760" cy="273960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14"/>
          <p:cNvSpPr/>
          <p:nvPr/>
        </p:nvSpPr>
        <p:spPr>
          <a:xfrm>
            <a:off x="4800600" y="13532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Modèle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15"/>
          <p:cNvSpPr/>
          <p:nvPr/>
        </p:nvSpPr>
        <p:spPr>
          <a:xfrm>
            <a:off x="6995160" y="1353240"/>
            <a:ext cx="1032840" cy="273960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6"/>
          <p:cNvSpPr/>
          <p:nvPr/>
        </p:nvSpPr>
        <p:spPr>
          <a:xfrm>
            <a:off x="6995160" y="1353240"/>
            <a:ext cx="103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RMSLE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17"/>
          <p:cNvSpPr/>
          <p:nvPr/>
        </p:nvSpPr>
        <p:spPr>
          <a:xfrm>
            <a:off x="8119800" y="1353240"/>
            <a:ext cx="703800" cy="273960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8"/>
          <p:cNvSpPr/>
          <p:nvPr/>
        </p:nvSpPr>
        <p:spPr>
          <a:xfrm>
            <a:off x="8119800" y="1353240"/>
            <a:ext cx="703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R²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19"/>
          <p:cNvSpPr/>
          <p:nvPr/>
        </p:nvSpPr>
        <p:spPr>
          <a:xfrm>
            <a:off x="4736520" y="1664280"/>
            <a:ext cx="4023000" cy="310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0"/>
          <p:cNvSpPr/>
          <p:nvPr/>
        </p:nvSpPr>
        <p:spPr>
          <a:xfrm>
            <a:off x="4800600" y="17006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Random Forest  ★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21"/>
          <p:cNvSpPr/>
          <p:nvPr/>
        </p:nvSpPr>
        <p:spPr>
          <a:xfrm>
            <a:off x="6995160" y="170064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0.657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2"/>
          <p:cNvSpPr/>
          <p:nvPr/>
        </p:nvSpPr>
        <p:spPr>
          <a:xfrm>
            <a:off x="8119800" y="170064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0.564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3"/>
          <p:cNvSpPr/>
          <p:nvPr/>
        </p:nvSpPr>
        <p:spPr>
          <a:xfrm>
            <a:off x="4736520" y="2002680"/>
            <a:ext cx="4023000" cy="31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24"/>
          <p:cNvSpPr/>
          <p:nvPr/>
        </p:nvSpPr>
        <p:spPr>
          <a:xfrm>
            <a:off x="4800600" y="20390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Lasso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25"/>
          <p:cNvSpPr/>
          <p:nvPr/>
        </p:nvSpPr>
        <p:spPr>
          <a:xfrm>
            <a:off x="6995160" y="203904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0.672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26"/>
          <p:cNvSpPr/>
          <p:nvPr/>
        </p:nvSpPr>
        <p:spPr>
          <a:xfrm>
            <a:off x="8119800" y="203904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0.545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7"/>
          <p:cNvSpPr/>
          <p:nvPr/>
        </p:nvSpPr>
        <p:spPr>
          <a:xfrm>
            <a:off x="4736520" y="2340720"/>
            <a:ext cx="4023000" cy="310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28"/>
          <p:cNvSpPr/>
          <p:nvPr/>
        </p:nvSpPr>
        <p:spPr>
          <a:xfrm>
            <a:off x="4800600" y="23774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Ridge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29"/>
          <p:cNvSpPr/>
          <p:nvPr/>
        </p:nvSpPr>
        <p:spPr>
          <a:xfrm>
            <a:off x="6995160" y="237744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0.673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30"/>
          <p:cNvSpPr/>
          <p:nvPr/>
        </p:nvSpPr>
        <p:spPr>
          <a:xfrm>
            <a:off x="8119800" y="237744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0.544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31"/>
          <p:cNvSpPr/>
          <p:nvPr/>
        </p:nvSpPr>
        <p:spPr>
          <a:xfrm>
            <a:off x="4736520" y="2679120"/>
            <a:ext cx="4023000" cy="31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2"/>
          <p:cNvSpPr/>
          <p:nvPr/>
        </p:nvSpPr>
        <p:spPr>
          <a:xfrm>
            <a:off x="4800600" y="27158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Régression Linéaire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33"/>
          <p:cNvSpPr/>
          <p:nvPr/>
        </p:nvSpPr>
        <p:spPr>
          <a:xfrm>
            <a:off x="6995160" y="271584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0.673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34"/>
          <p:cNvSpPr/>
          <p:nvPr/>
        </p:nvSpPr>
        <p:spPr>
          <a:xfrm>
            <a:off x="8119800" y="271584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0.544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35"/>
          <p:cNvSpPr/>
          <p:nvPr/>
        </p:nvSpPr>
        <p:spPr>
          <a:xfrm>
            <a:off x="4736520" y="3017520"/>
            <a:ext cx="4023000" cy="310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36"/>
          <p:cNvSpPr/>
          <p:nvPr/>
        </p:nvSpPr>
        <p:spPr>
          <a:xfrm>
            <a:off x="4800600" y="30542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2c39a"/>
                </a:solidFill>
                <a:latin typeface="Calibri"/>
                <a:ea typeface="Calibri"/>
              </a:rPr>
              <a:t>LightGBM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37"/>
          <p:cNvSpPr/>
          <p:nvPr/>
        </p:nvSpPr>
        <p:spPr>
          <a:xfrm>
            <a:off x="6995160" y="305424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0.694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38"/>
          <p:cNvSpPr/>
          <p:nvPr/>
        </p:nvSpPr>
        <p:spPr>
          <a:xfrm>
            <a:off x="8119800" y="305424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0.513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39"/>
          <p:cNvSpPr/>
          <p:nvPr/>
        </p:nvSpPr>
        <p:spPr>
          <a:xfrm>
            <a:off x="4736520" y="3355920"/>
            <a:ext cx="4023000" cy="31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40"/>
          <p:cNvSpPr/>
          <p:nvPr/>
        </p:nvSpPr>
        <p:spPr>
          <a:xfrm>
            <a:off x="4800600" y="339228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2c39a"/>
                </a:solidFill>
                <a:latin typeface="Calibri"/>
                <a:ea typeface="Calibri"/>
              </a:rPr>
              <a:t>Gradient Boosting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1"/>
          <p:cNvSpPr/>
          <p:nvPr/>
        </p:nvSpPr>
        <p:spPr>
          <a:xfrm>
            <a:off x="6995160" y="339228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0.696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42"/>
          <p:cNvSpPr/>
          <p:nvPr/>
        </p:nvSpPr>
        <p:spPr>
          <a:xfrm>
            <a:off x="8119800" y="339228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0.512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43"/>
          <p:cNvSpPr/>
          <p:nvPr/>
        </p:nvSpPr>
        <p:spPr>
          <a:xfrm>
            <a:off x="4736520" y="3694320"/>
            <a:ext cx="4023000" cy="310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4800600" y="373068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2c39a"/>
                </a:solidFill>
                <a:latin typeface="Calibri"/>
                <a:ea typeface="Calibri"/>
              </a:rPr>
              <a:t>XGBoost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45"/>
          <p:cNvSpPr/>
          <p:nvPr/>
        </p:nvSpPr>
        <p:spPr>
          <a:xfrm>
            <a:off x="6995160" y="373068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0.697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46"/>
          <p:cNvSpPr/>
          <p:nvPr/>
        </p:nvSpPr>
        <p:spPr>
          <a:xfrm>
            <a:off x="8119800" y="373068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0.511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47"/>
          <p:cNvSpPr/>
          <p:nvPr/>
        </p:nvSpPr>
        <p:spPr>
          <a:xfrm>
            <a:off x="4736520" y="4032360"/>
            <a:ext cx="4023000" cy="31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48"/>
          <p:cNvSpPr/>
          <p:nvPr/>
        </p:nvSpPr>
        <p:spPr>
          <a:xfrm>
            <a:off x="4800600" y="406908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87171"/>
                </a:solidFill>
                <a:latin typeface="Calibri"/>
                <a:ea typeface="Calibri"/>
              </a:rPr>
              <a:t>Baseline (médiane)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49"/>
          <p:cNvSpPr/>
          <p:nvPr/>
        </p:nvSpPr>
        <p:spPr>
          <a:xfrm>
            <a:off x="6995160" y="4069080"/>
            <a:ext cx="103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87171"/>
                </a:solidFill>
                <a:latin typeface="Calibri"/>
                <a:ea typeface="Calibri"/>
              </a:rPr>
              <a:t>0.999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50"/>
          <p:cNvSpPr/>
          <p:nvPr/>
        </p:nvSpPr>
        <p:spPr>
          <a:xfrm>
            <a:off x="8119800" y="4069080"/>
            <a:ext cx="70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87171"/>
                </a:solidFill>
                <a:latin typeface="Calibri"/>
                <a:ea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51"/>
          <p:cNvSpPr/>
          <p:nvPr/>
        </p:nvSpPr>
        <p:spPr>
          <a:xfrm>
            <a:off x="4736520" y="4700160"/>
            <a:ext cx="4023000" cy="2008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52"/>
          <p:cNvSpPr/>
          <p:nvPr/>
        </p:nvSpPr>
        <p:spPr>
          <a:xfrm>
            <a:off x="4800600" y="47001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Baseline (médiane) : 0.999  →  Random Forest : −34%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5 — API Flask &amp; Application Next.js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ec4899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7223760" y="201240"/>
            <a:ext cx="1645560" cy="383760"/>
          </a:xfrm>
          <a:prstGeom prst="rect">
            <a:avLst/>
          </a:prstGeom>
          <a:solidFill>
            <a:srgbClr val="ec4899">
              <a:alpha val="85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4"/>
          <p:cNvSpPr/>
          <p:nvPr/>
        </p:nvSpPr>
        <p:spPr>
          <a:xfrm>
            <a:off x="7223760" y="2012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c4899"/>
                </a:solidFill>
                <a:latin typeface="Calibri"/>
                <a:ea typeface="Calibri"/>
              </a:rPr>
              <a:t>Phase 5  ·  Application Web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5"/>
          <p:cNvSpPr/>
          <p:nvPr/>
        </p:nvSpPr>
        <p:spPr>
          <a:xfrm>
            <a:off x="365760" y="960120"/>
            <a:ext cx="1919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818cf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6"/>
          <p:cNvSpPr/>
          <p:nvPr/>
        </p:nvSpPr>
        <p:spPr>
          <a:xfrm>
            <a:off x="365760" y="960120"/>
            <a:ext cx="1919880" cy="5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7"/>
          <p:cNvSpPr/>
          <p:nvPr/>
        </p:nvSpPr>
        <p:spPr>
          <a:xfrm>
            <a:off x="411480" y="1051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Scikit-learn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Joblib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8"/>
          <p:cNvSpPr/>
          <p:nvPr/>
        </p:nvSpPr>
        <p:spPr>
          <a:xfrm>
            <a:off x="411480" y="155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18cf8"/>
                </a:solidFill>
                <a:latin typeface="Calibri"/>
                <a:ea typeface="Calibri"/>
              </a:rPr>
              <a:t>Modèle .pkl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9"/>
          <p:cNvSpPr/>
          <p:nvPr/>
        </p:nvSpPr>
        <p:spPr>
          <a:xfrm>
            <a:off x="2304360" y="1188720"/>
            <a:ext cx="23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4a3b8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0"/>
          <p:cNvSpPr/>
          <p:nvPr/>
        </p:nvSpPr>
        <p:spPr>
          <a:xfrm>
            <a:off x="2560320" y="960120"/>
            <a:ext cx="1919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0b4d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2560320" y="960120"/>
            <a:ext cx="191988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2"/>
          <p:cNvSpPr/>
          <p:nvPr/>
        </p:nvSpPr>
        <p:spPr>
          <a:xfrm>
            <a:off x="2606040" y="1051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Flask API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/api/predict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13"/>
          <p:cNvSpPr/>
          <p:nvPr/>
        </p:nvSpPr>
        <p:spPr>
          <a:xfrm>
            <a:off x="2606040" y="155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alibri"/>
                <a:ea typeface="Calibri"/>
              </a:rPr>
              <a:t>Backend Python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4"/>
          <p:cNvSpPr/>
          <p:nvPr/>
        </p:nvSpPr>
        <p:spPr>
          <a:xfrm>
            <a:off x="4498920" y="1188720"/>
            <a:ext cx="23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4a3b8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5"/>
          <p:cNvSpPr/>
          <p:nvPr/>
        </p:nvSpPr>
        <p:spPr>
          <a:xfrm>
            <a:off x="4754880" y="960120"/>
            <a:ext cx="1919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ec4899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6"/>
          <p:cNvSpPr/>
          <p:nvPr/>
        </p:nvSpPr>
        <p:spPr>
          <a:xfrm>
            <a:off x="4754880" y="960120"/>
            <a:ext cx="1919880" cy="5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17"/>
          <p:cNvSpPr/>
          <p:nvPr/>
        </p:nvSpPr>
        <p:spPr>
          <a:xfrm>
            <a:off x="4800600" y="1051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Next.js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+ Tailwind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8"/>
          <p:cNvSpPr/>
          <p:nvPr/>
        </p:nvSpPr>
        <p:spPr>
          <a:xfrm>
            <a:off x="4800600" y="155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c4899"/>
                </a:solidFill>
                <a:latin typeface="Calibri"/>
                <a:ea typeface="Calibri"/>
              </a:rPr>
              <a:t>Frontend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9"/>
          <p:cNvSpPr/>
          <p:nvPr/>
        </p:nvSpPr>
        <p:spPr>
          <a:xfrm>
            <a:off x="6693480" y="1188720"/>
            <a:ext cx="23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4a3b8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20"/>
          <p:cNvSpPr/>
          <p:nvPr/>
        </p:nvSpPr>
        <p:spPr>
          <a:xfrm>
            <a:off x="6949440" y="960120"/>
            <a:ext cx="1919880" cy="840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2c39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21"/>
          <p:cNvSpPr/>
          <p:nvPr/>
        </p:nvSpPr>
        <p:spPr>
          <a:xfrm>
            <a:off x="6949440" y="960120"/>
            <a:ext cx="191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22"/>
          <p:cNvSpPr/>
          <p:nvPr/>
        </p:nvSpPr>
        <p:spPr>
          <a:xfrm>
            <a:off x="6995160" y="1051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Leaflet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+ OSM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23"/>
          <p:cNvSpPr/>
          <p:nvPr/>
        </p:nvSpPr>
        <p:spPr>
          <a:xfrm>
            <a:off x="6995160" y="155448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Carte interactive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5"/>
          <p:cNvSpPr/>
          <p:nvPr/>
        </p:nvSpPr>
        <p:spPr>
          <a:xfrm>
            <a:off x="320040" y="2567880"/>
            <a:ext cx="416016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26"/>
          <p:cNvSpPr/>
          <p:nvPr/>
        </p:nvSpPr>
        <p:spPr>
          <a:xfrm>
            <a:off x="457200" y="3451320"/>
            <a:ext cx="3885840" cy="12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27"/>
          <p:cNvSpPr/>
          <p:nvPr/>
        </p:nvSpPr>
        <p:spPr>
          <a:xfrm>
            <a:off x="4663440" y="1920240"/>
            <a:ext cx="4160160" cy="29440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28"/>
          <p:cNvSpPr/>
          <p:nvPr/>
        </p:nvSpPr>
        <p:spPr>
          <a:xfrm>
            <a:off x="4663440" y="1920240"/>
            <a:ext cx="4160160" cy="5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29"/>
          <p:cNvSpPr/>
          <p:nvPr/>
        </p:nvSpPr>
        <p:spPr>
          <a:xfrm>
            <a:off x="4800600" y="20116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c4899"/>
                </a:solidFill>
                <a:latin typeface="Calibri"/>
                <a:ea typeface="Calibri"/>
              </a:rPr>
              <a:t>FONCTIONNALITÉS DE L'APPLICATION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30"/>
          <p:cNvSpPr/>
          <p:nvPr/>
        </p:nvSpPr>
        <p:spPr>
          <a:xfrm>
            <a:off x="4754880" y="241416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FORM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31"/>
          <p:cNvSpPr/>
          <p:nvPr/>
        </p:nvSpPr>
        <p:spPr>
          <a:xfrm>
            <a:off x="5230440" y="24141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alibri"/>
                <a:ea typeface="Calibri"/>
              </a:rPr>
              <a:t>Formulaire de prédiction : type, surface, pièces, quartier, équipements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32"/>
          <p:cNvSpPr/>
          <p:nvPr/>
        </p:nvSpPr>
        <p:spPr>
          <a:xfrm>
            <a:off x="4754880" y="290772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2c39a"/>
                </a:solidFill>
                <a:latin typeface="Calibri"/>
                <a:ea typeface="Calibri"/>
              </a:rPr>
              <a:t>PRIX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33"/>
          <p:cNvSpPr/>
          <p:nvPr/>
        </p:nvSpPr>
        <p:spPr>
          <a:xfrm>
            <a:off x="5230440" y="29077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2c39a"/>
                </a:solidFill>
                <a:latin typeface="Calibri"/>
                <a:ea typeface="Calibri"/>
              </a:rPr>
              <a:t>Résultat : prix estimé en MRU et EUR + intervalle de confiance + prix/m²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34"/>
          <p:cNvSpPr/>
          <p:nvPr/>
        </p:nvSpPr>
        <p:spPr>
          <a:xfrm>
            <a:off x="4754880" y="340164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59e0b"/>
                </a:solidFill>
                <a:latin typeface="Calibri"/>
                <a:ea typeface="Calibri"/>
              </a:rPr>
              <a:t>CARTE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35"/>
          <p:cNvSpPr/>
          <p:nvPr/>
        </p:nvSpPr>
        <p:spPr>
          <a:xfrm>
            <a:off x="5230440" y="34016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Carte Leaflet/OSM : affichage du quartier sélectionné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6"/>
          <p:cNvSpPr/>
          <p:nvPr/>
        </p:nvSpPr>
        <p:spPr>
          <a:xfrm>
            <a:off x="4754880" y="389520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18cf8"/>
                </a:solidFill>
                <a:latin typeface="Calibri"/>
                <a:ea typeface="Calibri"/>
              </a:rPr>
              <a:t>COMP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37"/>
          <p:cNvSpPr/>
          <p:nvPr/>
        </p:nvSpPr>
        <p:spPr>
          <a:xfrm>
            <a:off x="5230440" y="38952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18cf8"/>
                </a:solidFill>
                <a:latin typeface="Calibri"/>
                <a:ea typeface="Calibri"/>
              </a:rPr>
              <a:t>Comparaison avec annonces similaires dans le quartier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38"/>
          <p:cNvSpPr/>
          <p:nvPr/>
        </p:nvSpPr>
        <p:spPr>
          <a:xfrm>
            <a:off x="4754880" y="4389120"/>
            <a:ext cx="566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ec4899"/>
                </a:solidFill>
                <a:latin typeface="Calibri"/>
                <a:ea typeface="Calibri"/>
              </a:rPr>
              <a:t>WEB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39"/>
          <p:cNvSpPr/>
          <p:nvPr/>
        </p:nvSpPr>
        <p:spPr>
          <a:xfrm>
            <a:off x="5230440" y="43891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c4899"/>
                </a:solidFill>
                <a:latin typeface="Calibri"/>
                <a:ea typeface="Calibri"/>
              </a:rPr>
              <a:t>Déploiement : Frontend Vercel · Backend Render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6" name="" descr=""/>
          <p:cNvPicPr/>
          <p:nvPr/>
        </p:nvPicPr>
        <p:blipFill>
          <a:blip r:embed="rId1"/>
          <a:stretch/>
        </p:blipFill>
        <p:spPr>
          <a:xfrm>
            <a:off x="555480" y="1919520"/>
            <a:ext cx="3787920" cy="310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Phase 4 — Stacking : Combiner les Modèles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818cf8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5"/>
          <p:cNvSpPr/>
          <p:nvPr/>
        </p:nvSpPr>
        <p:spPr>
          <a:xfrm>
            <a:off x="320040" y="960120"/>
            <a:ext cx="4160160" cy="393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457200" y="1051560"/>
            <a:ext cx="388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COUCHE 1 — MODÈLES DE BASE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7"/>
          <p:cNvSpPr/>
          <p:nvPr/>
        </p:nvSpPr>
        <p:spPr>
          <a:xfrm>
            <a:off x="457200" y="1353240"/>
            <a:ext cx="1188360" cy="47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8"/>
          <p:cNvSpPr/>
          <p:nvPr/>
        </p:nvSpPr>
        <p:spPr>
          <a:xfrm>
            <a:off x="457200" y="135324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b4d8"/>
                </a:solidFill>
                <a:latin typeface="Calibri"/>
                <a:ea typeface="Calibri"/>
              </a:rPr>
              <a:t>Random Forest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9"/>
          <p:cNvSpPr/>
          <p:nvPr/>
        </p:nvSpPr>
        <p:spPr>
          <a:xfrm>
            <a:off x="1783080" y="1353240"/>
            <a:ext cx="1188360" cy="47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10"/>
          <p:cNvSpPr/>
          <p:nvPr/>
        </p:nvSpPr>
        <p:spPr>
          <a:xfrm>
            <a:off x="1783080" y="135324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LightGBM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11"/>
          <p:cNvSpPr/>
          <p:nvPr/>
        </p:nvSpPr>
        <p:spPr>
          <a:xfrm>
            <a:off x="3108960" y="1353240"/>
            <a:ext cx="1188360" cy="47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12"/>
          <p:cNvSpPr/>
          <p:nvPr/>
        </p:nvSpPr>
        <p:spPr>
          <a:xfrm>
            <a:off x="3108960" y="135324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XGBoost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3"/>
          <p:cNvSpPr/>
          <p:nvPr/>
        </p:nvSpPr>
        <p:spPr>
          <a:xfrm>
            <a:off x="457200" y="1974960"/>
            <a:ext cx="1188360" cy="47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14"/>
          <p:cNvSpPr/>
          <p:nvPr/>
        </p:nvSpPr>
        <p:spPr>
          <a:xfrm>
            <a:off x="457200" y="197496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b4d8"/>
                </a:solidFill>
                <a:latin typeface="Calibri"/>
                <a:ea typeface="Calibri"/>
              </a:rPr>
              <a:t>ExtraTrees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5"/>
          <p:cNvSpPr/>
          <p:nvPr/>
        </p:nvSpPr>
        <p:spPr>
          <a:xfrm>
            <a:off x="1783080" y="1974960"/>
            <a:ext cx="1188360" cy="47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6"/>
          <p:cNvSpPr/>
          <p:nvPr/>
        </p:nvSpPr>
        <p:spPr>
          <a:xfrm>
            <a:off x="1783080" y="197496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CatBoost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17"/>
          <p:cNvSpPr/>
          <p:nvPr/>
        </p:nvSpPr>
        <p:spPr>
          <a:xfrm>
            <a:off x="3108960" y="1974960"/>
            <a:ext cx="1188360" cy="47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94a3b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18"/>
          <p:cNvSpPr/>
          <p:nvPr/>
        </p:nvSpPr>
        <p:spPr>
          <a:xfrm>
            <a:off x="3108960" y="197496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Ridge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19"/>
          <p:cNvSpPr/>
          <p:nvPr/>
        </p:nvSpPr>
        <p:spPr>
          <a:xfrm>
            <a:off x="457200" y="265176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Prédictions Out-of-Fold (5-fold CV) ↓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20"/>
          <p:cNvSpPr/>
          <p:nvPr/>
        </p:nvSpPr>
        <p:spPr>
          <a:xfrm>
            <a:off x="731520" y="2962800"/>
            <a:ext cx="3382920" cy="502560"/>
          </a:xfrm>
          <a:prstGeom prst="rect">
            <a:avLst/>
          </a:prstGeom>
          <a:solidFill>
            <a:srgbClr val="0a1628"/>
          </a:solidFill>
          <a:ln w="12700">
            <a:solidFill>
              <a:srgbClr val="818cf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21"/>
          <p:cNvSpPr/>
          <p:nvPr/>
        </p:nvSpPr>
        <p:spPr>
          <a:xfrm>
            <a:off x="731520" y="296280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18cf8"/>
                </a:solidFill>
                <a:latin typeface="Calibri"/>
                <a:ea typeface="Calibri"/>
              </a:rPr>
              <a:t>COUCHE 2 — META-LEARNER (RidgeCV)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22"/>
          <p:cNvSpPr/>
          <p:nvPr/>
        </p:nvSpPr>
        <p:spPr>
          <a:xfrm>
            <a:off x="457200" y="352044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Combinaison optimale des prédictions ↓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23"/>
          <p:cNvSpPr/>
          <p:nvPr/>
        </p:nvSpPr>
        <p:spPr>
          <a:xfrm>
            <a:off x="1005840" y="3822120"/>
            <a:ext cx="2834280" cy="475200"/>
          </a:xfrm>
          <a:prstGeom prst="rect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24"/>
          <p:cNvSpPr/>
          <p:nvPr/>
        </p:nvSpPr>
        <p:spPr>
          <a:xfrm>
            <a:off x="1005840" y="3822120"/>
            <a:ext cx="2834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Prédiction Finale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25"/>
          <p:cNvSpPr/>
          <p:nvPr/>
        </p:nvSpPr>
        <p:spPr>
          <a:xfrm>
            <a:off x="4663440" y="960120"/>
            <a:ext cx="4160160" cy="1170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26"/>
          <p:cNvSpPr/>
          <p:nvPr/>
        </p:nvSpPr>
        <p:spPr>
          <a:xfrm>
            <a:off x="4663440" y="960120"/>
            <a:ext cx="54360" cy="1170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27"/>
          <p:cNvSpPr/>
          <p:nvPr/>
        </p:nvSpPr>
        <p:spPr>
          <a:xfrm>
            <a:off x="4827960" y="1051560"/>
            <a:ext cx="385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Pourquoi stacker 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28"/>
          <p:cNvSpPr/>
          <p:nvPr/>
        </p:nvSpPr>
        <p:spPr>
          <a:xfrm>
            <a:off x="4827960" y="1362600"/>
            <a:ext cx="3858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Chaque modèle voit les données différemment. Random Forest capture les effets non-linéaires, Ridge apporte une solution stable, les boosters minimisent le biais. La combinaison est plus robuste qu'un seul modèle seul.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29"/>
          <p:cNvSpPr/>
          <p:nvPr/>
        </p:nvSpPr>
        <p:spPr>
          <a:xfrm>
            <a:off x="4663440" y="2286000"/>
            <a:ext cx="4160160" cy="1170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30"/>
          <p:cNvSpPr/>
          <p:nvPr/>
        </p:nvSpPr>
        <p:spPr>
          <a:xfrm>
            <a:off x="4663440" y="2286000"/>
            <a:ext cx="54360" cy="1170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31"/>
          <p:cNvSpPr/>
          <p:nvPr/>
        </p:nvSpPr>
        <p:spPr>
          <a:xfrm>
            <a:off x="4827960" y="2377440"/>
            <a:ext cx="385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Comment ça marche 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32"/>
          <p:cNvSpPr/>
          <p:nvPr/>
        </p:nvSpPr>
        <p:spPr>
          <a:xfrm>
            <a:off x="4827960" y="2688480"/>
            <a:ext cx="3858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En validation croisée 5-fold, chaque modèle prédit sur les folds de validation qu'il n'a pas vus. On obtient ainsi des prédictions OOF (out-of-fold) pour les 1153 lignes. Le meta-learner apprend à les combiner.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33"/>
          <p:cNvSpPr/>
          <p:nvPr/>
        </p:nvSpPr>
        <p:spPr>
          <a:xfrm>
            <a:off x="4663440" y="3611880"/>
            <a:ext cx="4160160" cy="1170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34"/>
          <p:cNvSpPr/>
          <p:nvPr/>
        </p:nvSpPr>
        <p:spPr>
          <a:xfrm>
            <a:off x="4663440" y="3611880"/>
            <a:ext cx="54360" cy="1170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35"/>
          <p:cNvSpPr/>
          <p:nvPr/>
        </p:nvSpPr>
        <p:spPr>
          <a:xfrm>
            <a:off x="4827960" y="3703320"/>
            <a:ext cx="385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Le piège à éviter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36"/>
          <p:cNvSpPr/>
          <p:nvPr/>
        </p:nvSpPr>
        <p:spPr>
          <a:xfrm>
            <a:off x="4827960" y="4014360"/>
            <a:ext cx="3858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Évaluer le meta-learner sur les mêmes données qu'il a apprises = score fictif. Dans notre V3, on avait ce bug : CV affiché 0.55, LB réel 0.61. Correction : le meta-learner doit aussi avoir son propre CV interne.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320040" y="201240"/>
            <a:ext cx="63720" cy="566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1"/>
          <p:cNvSpPr/>
          <p:nvPr/>
        </p:nvSpPr>
        <p:spPr>
          <a:xfrm>
            <a:off x="475560" y="1645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Régressions Rencontrées &amp; Comment les Surmonter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2"/>
          <p:cNvSpPr/>
          <p:nvPr/>
        </p:nvSpPr>
        <p:spPr>
          <a:xfrm>
            <a:off x="320040" y="840960"/>
            <a:ext cx="8503920" cy="360"/>
          </a:xfrm>
          <a:prstGeom prst="line">
            <a:avLst/>
          </a:prstGeom>
          <a:ln w="15240">
            <a:solidFill>
              <a:srgbClr val="f8717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320040" y="960120"/>
            <a:ext cx="8503560" cy="347040"/>
          </a:xfrm>
          <a:prstGeom prst="rect">
            <a:avLst/>
          </a:prstGeom>
          <a:solidFill>
            <a:srgbClr val="0a1628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4"/>
          <p:cNvSpPr/>
          <p:nvPr/>
        </p:nvSpPr>
        <p:spPr>
          <a:xfrm>
            <a:off x="457200" y="96012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  <a:ea typeface="Calibri"/>
              </a:rPr>
              <a:t>Régression </a:t>
            </a: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Calibri"/>
              </a:rPr>
              <a:t>= le score s'est dégradé après un changement. Chaque régression a été un signal d'apprentissage.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320040" y="1417320"/>
            <a:ext cx="4160160" cy="1663920"/>
          </a:xfrm>
          <a:prstGeom prst="rect">
            <a:avLst/>
          </a:prstGeom>
          <a:solidFill>
            <a:srgbClr val="1a2f45"/>
          </a:solidFill>
          <a:ln w="12700">
            <a:solidFill>
              <a:srgbClr val="f8717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6"/>
          <p:cNvSpPr/>
          <p:nvPr/>
        </p:nvSpPr>
        <p:spPr>
          <a:xfrm>
            <a:off x="320040" y="1417320"/>
            <a:ext cx="416016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7"/>
          <p:cNvSpPr/>
          <p:nvPr/>
        </p:nvSpPr>
        <p:spPr>
          <a:xfrm>
            <a:off x="457200" y="15087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  <a:ea typeface="Calibri"/>
              </a:rPr>
              <a:t>Bug V3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8"/>
          <p:cNvSpPr/>
          <p:nvPr/>
        </p:nvSpPr>
        <p:spPr>
          <a:xfrm>
            <a:off x="3063240" y="15087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CV: 0.55 → LB: 0.61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9"/>
          <p:cNvSpPr/>
          <p:nvPr/>
        </p:nvSpPr>
        <p:spPr>
          <a:xfrm>
            <a:off x="457200" y="176472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Meta-learner évalué en in-sample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10"/>
          <p:cNvSpPr/>
          <p:nvPr/>
        </p:nvSpPr>
        <p:spPr>
          <a:xfrm>
            <a:off x="457200" y="2002680"/>
            <a:ext cx="3858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Cause : Le meta-learner était entraîné sur les prédictions OOF puis scoré sur ces mêmes lignes. C'est équivalent à s'évaluer sur ses données d'entraînement — un résultat fictif.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11"/>
          <p:cNvSpPr/>
          <p:nvPr/>
        </p:nvSpPr>
        <p:spPr>
          <a:xfrm>
            <a:off x="457200" y="2532960"/>
            <a:ext cx="45360" cy="402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12"/>
          <p:cNvSpPr/>
          <p:nvPr/>
        </p:nvSpPr>
        <p:spPr>
          <a:xfrm>
            <a:off x="576000" y="2532960"/>
            <a:ext cx="3730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Fix : Ajout d'un CV interne pour le meta-learner (kf_meta). Il est maintenant entraîné sur un sous-ensemble et évalué sur les lignes qu'il n'a pas vues.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13"/>
          <p:cNvSpPr/>
          <p:nvPr/>
        </p:nvSpPr>
        <p:spPr>
          <a:xfrm>
            <a:off x="4663440" y="1417320"/>
            <a:ext cx="4160160" cy="1663920"/>
          </a:xfrm>
          <a:prstGeom prst="rect">
            <a:avLst/>
          </a:prstGeom>
          <a:solidFill>
            <a:srgbClr val="1a2f45"/>
          </a:solidFill>
          <a:ln w="12700">
            <a:solidFill>
              <a:srgbClr val="f8717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14"/>
          <p:cNvSpPr/>
          <p:nvPr/>
        </p:nvSpPr>
        <p:spPr>
          <a:xfrm>
            <a:off x="4663440" y="1417320"/>
            <a:ext cx="416016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5"/>
          <p:cNvSpPr/>
          <p:nvPr/>
        </p:nvSpPr>
        <p:spPr>
          <a:xfrm>
            <a:off x="4800600" y="15087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  <a:ea typeface="Calibri"/>
              </a:rPr>
              <a:t>Bug Early Stop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16"/>
          <p:cNvSpPr/>
          <p:nvPr/>
        </p:nvSpPr>
        <p:spPr>
          <a:xfrm>
            <a:off x="7406640" y="15087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LGB: +0.026 RMSLE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4800600" y="176472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Pas d'early stopping dans le stacking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18"/>
          <p:cNvSpPr/>
          <p:nvPr/>
        </p:nvSpPr>
        <p:spPr>
          <a:xfrm>
            <a:off x="4800600" y="2002680"/>
            <a:ext cx="3858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Cause : Optuna trouvait les bons hyperparamètres avec early stopping (patience 50). Mais la boucle OOF du stacking faisait tourner tous les n_estimators sans s'arrêter — overfittant chaque fold.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19"/>
          <p:cNvSpPr/>
          <p:nvPr/>
        </p:nvSpPr>
        <p:spPr>
          <a:xfrm>
            <a:off x="4800600" y="2532960"/>
            <a:ext cx="45360" cy="402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20"/>
          <p:cNvSpPr/>
          <p:nvPr/>
        </p:nvSpPr>
        <p:spPr>
          <a:xfrm>
            <a:off x="4919400" y="2532960"/>
            <a:ext cx="3730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Fix : Early stopping intégré dans le constructeur des modèles + eval_set passé dans fit(). Les conditions d'entraînement et de tuning sont maintenant identiques.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21"/>
          <p:cNvSpPr/>
          <p:nvPr/>
        </p:nvSpPr>
        <p:spPr>
          <a:xfrm>
            <a:off x="320040" y="3246120"/>
            <a:ext cx="4160160" cy="1663920"/>
          </a:xfrm>
          <a:prstGeom prst="rect">
            <a:avLst/>
          </a:prstGeom>
          <a:solidFill>
            <a:srgbClr val="1a2f45"/>
          </a:solidFill>
          <a:ln w="12700">
            <a:solidFill>
              <a:srgbClr val="f8717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22"/>
          <p:cNvSpPr/>
          <p:nvPr/>
        </p:nvSpPr>
        <p:spPr>
          <a:xfrm>
            <a:off x="320040" y="3246120"/>
            <a:ext cx="416016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23"/>
          <p:cNvSpPr/>
          <p:nvPr/>
        </p:nvSpPr>
        <p:spPr>
          <a:xfrm>
            <a:off x="457200" y="33375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  <a:ea typeface="Calibri"/>
              </a:rPr>
              <a:t>V6 LOO encoding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24"/>
          <p:cNvSpPr/>
          <p:nvPr/>
        </p:nvSpPr>
        <p:spPr>
          <a:xfrm>
            <a:off x="3063240" y="3337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LB: 0.562 → 0.674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25"/>
          <p:cNvSpPr/>
          <p:nvPr/>
        </p:nvSpPr>
        <p:spPr>
          <a:xfrm>
            <a:off x="457200" y="359352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Leave-One-Out encoding à la place du lissé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26"/>
          <p:cNvSpPr/>
          <p:nvPr/>
        </p:nvSpPr>
        <p:spPr>
          <a:xfrm>
            <a:off x="457200" y="3831480"/>
            <a:ext cx="3858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Cause : LOO est théoriquement plus précis — mais Riyadh n'a que 13 annonces. Avec si peu de données, la variance du LOO est énorme et contamine les features d'interaction (surface × quartier_enc).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27"/>
          <p:cNvSpPr/>
          <p:nvPr/>
        </p:nvSpPr>
        <p:spPr>
          <a:xfrm>
            <a:off x="457200" y="4361760"/>
            <a:ext cx="45360" cy="402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28"/>
          <p:cNvSpPr/>
          <p:nvPr/>
        </p:nvSpPr>
        <p:spPr>
          <a:xfrm>
            <a:off x="576000" y="4361760"/>
            <a:ext cx="3730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alibri"/>
                <a:ea typeface="Calibri"/>
              </a:rPr>
              <a:t>Fix : Retour au target encoding lissé k=30. La régularisation bat la précision sur les petits groupes. Leçon : tester un seul changement à la fois pour isoler l'impact.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29"/>
          <p:cNvSpPr/>
          <p:nvPr/>
        </p:nvSpPr>
        <p:spPr>
          <a:xfrm>
            <a:off x="4663440" y="3246120"/>
            <a:ext cx="4160160" cy="1663920"/>
          </a:xfrm>
          <a:prstGeom prst="rect">
            <a:avLst/>
          </a:prstGeom>
          <a:solidFill>
            <a:srgbClr val="1a2f45"/>
          </a:solidFill>
          <a:ln w="12700">
            <a:solidFill>
              <a:srgbClr val="f8717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30"/>
          <p:cNvSpPr/>
          <p:nvPr/>
        </p:nvSpPr>
        <p:spPr>
          <a:xfrm>
            <a:off x="4663440" y="3246120"/>
            <a:ext cx="416016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31"/>
          <p:cNvSpPr/>
          <p:nvPr/>
        </p:nvSpPr>
        <p:spPr>
          <a:xfrm>
            <a:off x="4800600" y="33375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  <a:ea typeface="Calibri"/>
              </a:rPr>
              <a:t>V6 Extraction prix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32"/>
          <p:cNvSpPr/>
          <p:nvPr/>
        </p:nvSpPr>
        <p:spPr>
          <a:xfrm>
            <a:off x="7406640" y="3337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  <a:ea typeface="Calibri"/>
              </a:rPr>
              <a:t>LB: 0.562 → 0.654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3"/>
          <p:cNvSpPr/>
          <p:nvPr/>
        </p:nvSpPr>
        <p:spPr>
          <a:xfrm>
            <a:off x="4800600" y="3593520"/>
            <a:ext cx="385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Extraction de nombres bruts dans le texte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34"/>
          <p:cNvSpPr/>
          <p:nvPr/>
        </p:nvSpPr>
        <p:spPr>
          <a:xfrm>
            <a:off x="4800600" y="3831480"/>
            <a:ext cx="3858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Cause : Le regex capturait tout entier de 7–9 chiffres comme un prix. Or les numéros de téléphone mauritaniens font 8 chiffres — la feature était remplie de faux prix.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35"/>
          <p:cNvSpPr/>
          <p:nvPr/>
        </p:nvSpPr>
        <p:spPr>
          <a:xfrm>
            <a:off x="4800600" y="4361760"/>
            <a:ext cx="45360" cy="402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36"/>
          <p:cNvSpPr/>
          <p:nvPr/>
        </p:nvSpPr>
        <p:spPr>
          <a:xfrm>
            <a:off x="4919400" y="4361760"/>
            <a:ext cx="3730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2c39a"/>
                </a:solidFill>
                <a:latin typeface="Calibri"/>
                <a:ea typeface="Calibri"/>
              </a:rPr>
              <a:t>Fix : Restriction du regex aux patterns explicites : 'X MRU', 'X millions', 'prix: XXXXXX'. Les numéros bruts sans unité sont ignorés. Résultat : +0.041 LB au final.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37"/>
          <p:cNvSpPr/>
          <p:nvPr/>
        </p:nvSpPr>
        <p:spPr>
          <a:xfrm>
            <a:off x="320040" y="4851360"/>
            <a:ext cx="8503560" cy="292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38"/>
          <p:cNvSpPr/>
          <p:nvPr/>
        </p:nvSpPr>
        <p:spPr>
          <a:xfrm>
            <a:off x="457200" y="480060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Leçon globale : </a:t>
            </a:r>
            <a:r>
              <a:rPr b="0" lang="en-US" sz="1050" spc="-1" strike="noStrike">
                <a:solidFill>
                  <a:srgbClr val="e2e8f0"/>
                </a:solidFill>
                <a:latin typeface="Calibri"/>
                <a:ea typeface="Calibri"/>
              </a:rPr>
              <a:t>tester un seul changement à la fois · vérifier CV/LB gap · une régression = un signal à analyser, pas à ignorer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2026-03-17T13:23:29Z</dcterms:created>
  <dc:creator>PptxGenJS</dc:creator>
  <dc:description/>
  <dc:language>en-US</dc:language>
  <cp:lastModifiedBy/>
  <dcterms:modified xsi:type="dcterms:W3CDTF">2026-03-17T13:34:32Z</dcterms:modified>
  <cp:revision>2</cp:revision>
  <dc:subject>PptxGenJS Presentation</dc:subject>
  <dc:title>Prédiction des Prix Immobiliers en Mauritanie — Capstone ML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