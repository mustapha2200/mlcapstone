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269A59B-780A-417C-B56A-BB53A7AD67E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11DD0C-7FAB-436B-B2AE-CCFAF5FE082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ED75B0-002E-400E-AFA4-E5E01D9CE25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CF03A17-FA4C-4BD7-B41B-2A3FEDD0A94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8C20BF-9CA9-41DE-AAD4-97E9917BC1F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FB1BE3-99B5-46DB-B747-2F50054059E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694E21-3B46-4F03-ACF5-38889CAC3F5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B11D06-F533-43C9-B6EA-33FEAD5717D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A59193-8D3F-4008-A122-C11A595E1C1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2D6E82-8CA0-4816-BCCB-E25513B200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CD274E-3CFB-49FC-B424-47375595D3B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B2CB5C-20F0-44DB-B369-7B04520F631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ic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k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to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dit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th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titl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e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te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xt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fo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9143280" cy="63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0" y="5079600"/>
            <a:ext cx="9143280" cy="633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320040" y="777240"/>
            <a:ext cx="90720" cy="3016800"/>
          </a:xfrm>
          <a:prstGeom prst="rect">
            <a:avLst/>
          </a:prstGeom>
          <a:solidFill>
            <a:srgbClr val="00b4d8">
              <a:alpha val="55000"/>
            </a:srgbClr>
          </a:solidFill>
          <a:ln w="12700">
            <a:solidFill>
              <a:srgbClr val="00b4d8">
                <a:alpha val="5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320040" y="777240"/>
            <a:ext cx="410760" cy="90720"/>
          </a:xfrm>
          <a:prstGeom prst="rect">
            <a:avLst/>
          </a:prstGeom>
          <a:solidFill>
            <a:srgbClr val="00b4d8">
              <a:alpha val="55000"/>
            </a:srgbClr>
          </a:solidFill>
          <a:ln w="12700">
            <a:solidFill>
              <a:srgbClr val="00b4d8">
                <a:alpha val="5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320040" y="3703320"/>
            <a:ext cx="410760" cy="90720"/>
          </a:xfrm>
          <a:prstGeom prst="rect">
            <a:avLst/>
          </a:prstGeom>
          <a:solidFill>
            <a:srgbClr val="00b4d8">
              <a:alpha val="55000"/>
            </a:srgbClr>
          </a:solidFill>
          <a:ln w="12700">
            <a:solidFill>
              <a:srgbClr val="00b4d8">
                <a:alpha val="5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914400" y="914400"/>
            <a:ext cx="6582960" cy="18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  <a:ea typeface="Calibri"/>
              </a:rPr>
              <a:t>Prédiction des Prix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  <a:ea typeface="Calibri"/>
              </a:rPr>
              <a:t>Immobiliers en Mauritanie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823680" y="3429000"/>
            <a:ext cx="65829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00b4d8"/>
                </a:solidFill>
                <a:latin typeface="Calibri"/>
                <a:ea typeface="Calibri"/>
              </a:rPr>
              <a:t>De zéro à une application web : scraping · géo-enrichissement · ML · déploiement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7406640" y="1097280"/>
            <a:ext cx="1416600" cy="26967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7406640" y="1097280"/>
            <a:ext cx="54000" cy="2696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7516440" y="1234440"/>
            <a:ext cx="1233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59e0b"/>
                </a:solidFill>
                <a:latin typeface="Calibri"/>
                <a:ea typeface="Calibri"/>
              </a:rPr>
              <a:t>1153+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7516440" y="1527120"/>
            <a:ext cx="1233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  <a:ea typeface="Calibri"/>
              </a:rPr>
              <a:t>annonces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7516440" y="1837800"/>
            <a:ext cx="1233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59e0b"/>
                </a:solidFill>
                <a:latin typeface="Calibri"/>
                <a:ea typeface="Calibri"/>
              </a:rPr>
              <a:t>5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7516440" y="2130480"/>
            <a:ext cx="1233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  <a:ea typeface="Calibri"/>
              </a:rPr>
              <a:t>sites scrappés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7516440" y="2441520"/>
            <a:ext cx="1233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59e0b"/>
                </a:solidFill>
                <a:latin typeface="Calibri"/>
                <a:ea typeface="Calibri"/>
              </a:rPr>
              <a:t>8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7516440" y="2734200"/>
            <a:ext cx="1233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  <a:ea typeface="Calibri"/>
              </a:rPr>
              <a:t>quartiers NKC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7516440" y="3044880"/>
            <a:ext cx="123372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59e0b"/>
                </a:solidFill>
                <a:latin typeface="Calibri"/>
                <a:ea typeface="Calibri"/>
              </a:rPr>
              <a:t>117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7516440" y="3337560"/>
            <a:ext cx="1233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94a3b8"/>
                </a:solidFill>
                <a:latin typeface="Calibri"/>
                <a:ea typeface="Calibri"/>
              </a:rPr>
              <a:t>features ML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457200" y="4160520"/>
            <a:ext cx="1572120" cy="346680"/>
          </a:xfrm>
          <a:prstGeom prst="roundRect">
            <a:avLst>
              <a:gd name="adj" fmla="val 26316"/>
            </a:avLst>
          </a:prstGeom>
          <a:solidFill>
            <a:srgbClr val="1a2f45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457200" y="4160520"/>
            <a:ext cx="15721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b4d8"/>
                </a:solidFill>
                <a:latin typeface="Calibri"/>
                <a:ea typeface="Calibri"/>
              </a:rPr>
              <a:t>Phase 1 · Scraping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2148840" y="4160520"/>
            <a:ext cx="1572120" cy="346680"/>
          </a:xfrm>
          <a:prstGeom prst="roundRect">
            <a:avLst>
              <a:gd name="adj" fmla="val 26316"/>
            </a:avLst>
          </a:prstGeom>
          <a:solidFill>
            <a:srgbClr val="1a2f45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20"/>
          <p:cNvSpPr/>
          <p:nvPr/>
        </p:nvSpPr>
        <p:spPr>
          <a:xfrm>
            <a:off x="2148840" y="4160520"/>
            <a:ext cx="15721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2c39a"/>
                </a:solidFill>
                <a:latin typeface="Calibri"/>
                <a:ea typeface="Calibri"/>
              </a:rPr>
              <a:t>Phase 2 · Géo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3840480" y="4160520"/>
            <a:ext cx="1572120" cy="346680"/>
          </a:xfrm>
          <a:prstGeom prst="roundRect">
            <a:avLst>
              <a:gd name="adj" fmla="val 26316"/>
            </a:avLst>
          </a:prstGeom>
          <a:solidFill>
            <a:srgbClr val="1a2f45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3840480" y="4160520"/>
            <a:ext cx="15721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59e0b"/>
                </a:solidFill>
                <a:latin typeface="Calibri"/>
                <a:ea typeface="Calibri"/>
              </a:rPr>
              <a:t>Phase 3 · EDA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5532120" y="4160520"/>
            <a:ext cx="1572120" cy="346680"/>
          </a:xfrm>
          <a:prstGeom prst="roundRect">
            <a:avLst>
              <a:gd name="adj" fmla="val 26316"/>
            </a:avLst>
          </a:prstGeom>
          <a:solidFill>
            <a:srgbClr val="1a2f45"/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24"/>
          <p:cNvSpPr/>
          <p:nvPr/>
        </p:nvSpPr>
        <p:spPr>
          <a:xfrm>
            <a:off x="5532120" y="4160520"/>
            <a:ext cx="15721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818cf8"/>
                </a:solidFill>
                <a:latin typeface="Calibri"/>
                <a:ea typeface="Calibri"/>
              </a:rPr>
              <a:t>Phase 4 · ML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7223760" y="4160520"/>
            <a:ext cx="1572120" cy="346680"/>
          </a:xfrm>
          <a:prstGeom prst="roundRect">
            <a:avLst>
              <a:gd name="adj" fmla="val 26316"/>
            </a:avLst>
          </a:prstGeom>
          <a:solidFill>
            <a:srgbClr val="1a2f45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26"/>
          <p:cNvSpPr/>
          <p:nvPr/>
        </p:nvSpPr>
        <p:spPr>
          <a:xfrm>
            <a:off x="7223760" y="4160520"/>
            <a:ext cx="15721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c4899"/>
                </a:solidFill>
                <a:latin typeface="Calibri"/>
                <a:ea typeface="Calibri"/>
              </a:rPr>
              <a:t>Phase 5 · App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27"/>
          <p:cNvSpPr/>
          <p:nvPr/>
        </p:nvSpPr>
        <p:spPr>
          <a:xfrm>
            <a:off x="320040" y="4681800"/>
            <a:ext cx="68572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2514600" y="2972160"/>
            <a:ext cx="4114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SAMSAR 2.0 :  22013 22040 25239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0"/>
          <p:cNvSpPr/>
          <p:nvPr/>
        </p:nvSpPr>
        <p:spPr>
          <a:xfrm>
            <a:off x="320040" y="201240"/>
            <a:ext cx="63360" cy="566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Text 1"/>
          <p:cNvSpPr/>
          <p:nvPr/>
        </p:nvSpPr>
        <p:spPr>
          <a:xfrm>
            <a:off x="475560" y="164520"/>
            <a:ext cx="832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Bilan &amp; Perspectives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2"/>
          <p:cNvSpPr/>
          <p:nvPr/>
        </p:nvSpPr>
        <p:spPr>
          <a:xfrm>
            <a:off x="320040" y="840960"/>
            <a:ext cx="8503920" cy="360"/>
          </a:xfrm>
          <a:prstGeom prst="line">
            <a:avLst/>
          </a:prstGeom>
          <a:ln w="15240">
            <a:solidFill>
              <a:srgbClr val="00b4d8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"/>
          <p:cNvSpPr/>
          <p:nvPr/>
        </p:nvSpPr>
        <p:spPr>
          <a:xfrm>
            <a:off x="320040" y="987480"/>
            <a:ext cx="5119920" cy="6940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4"/>
          <p:cNvSpPr/>
          <p:nvPr/>
        </p:nvSpPr>
        <p:spPr>
          <a:xfrm>
            <a:off x="320040" y="987480"/>
            <a:ext cx="54000" cy="6940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5"/>
          <p:cNvSpPr/>
          <p:nvPr/>
        </p:nvSpPr>
        <p:spPr>
          <a:xfrm>
            <a:off x="457200" y="1106280"/>
            <a:ext cx="776520" cy="328320"/>
          </a:xfrm>
          <a:prstGeom prst="rect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6"/>
          <p:cNvSpPr/>
          <p:nvPr/>
        </p:nvSpPr>
        <p:spPr>
          <a:xfrm>
            <a:off x="457200" y="1106280"/>
            <a:ext cx="776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b4d8"/>
                </a:solidFill>
                <a:latin typeface="Calibri"/>
                <a:ea typeface="Calibri"/>
              </a:rPr>
              <a:t>Phase 1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7"/>
          <p:cNvSpPr/>
          <p:nvPr/>
        </p:nvSpPr>
        <p:spPr>
          <a:xfrm>
            <a:off x="1353240" y="1051560"/>
            <a:ext cx="3931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Scraping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8"/>
          <p:cNvSpPr/>
          <p:nvPr/>
        </p:nvSpPr>
        <p:spPr>
          <a:xfrm>
            <a:off x="1353240" y="132588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1 153 annonces · 5 sources · 12 colonnes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9"/>
          <p:cNvSpPr/>
          <p:nvPr/>
        </p:nvSpPr>
        <p:spPr>
          <a:xfrm>
            <a:off x="320040" y="1792080"/>
            <a:ext cx="5119920" cy="6940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Shape 10"/>
          <p:cNvSpPr/>
          <p:nvPr/>
        </p:nvSpPr>
        <p:spPr>
          <a:xfrm>
            <a:off x="320040" y="1792080"/>
            <a:ext cx="54000" cy="6940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11"/>
          <p:cNvSpPr/>
          <p:nvPr/>
        </p:nvSpPr>
        <p:spPr>
          <a:xfrm>
            <a:off x="457200" y="1911240"/>
            <a:ext cx="776520" cy="328320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12"/>
          <p:cNvSpPr/>
          <p:nvPr/>
        </p:nvSpPr>
        <p:spPr>
          <a:xfrm>
            <a:off x="457200" y="1911240"/>
            <a:ext cx="776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2c39a"/>
                </a:solidFill>
                <a:latin typeface="Calibri"/>
                <a:ea typeface="Calibri"/>
              </a:rPr>
              <a:t>Phase 2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13"/>
          <p:cNvSpPr/>
          <p:nvPr/>
        </p:nvSpPr>
        <p:spPr>
          <a:xfrm>
            <a:off x="1353240" y="1856160"/>
            <a:ext cx="3931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Géo-enrichissement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14"/>
          <p:cNvSpPr/>
          <p:nvPr/>
        </p:nvSpPr>
        <p:spPr>
          <a:xfrm>
            <a:off x="1353240" y="213048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9 features GPS/POI · Nominatim + Overpass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Shape 15"/>
          <p:cNvSpPr/>
          <p:nvPr/>
        </p:nvSpPr>
        <p:spPr>
          <a:xfrm>
            <a:off x="320040" y="2597040"/>
            <a:ext cx="5119920" cy="6940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Shape 16"/>
          <p:cNvSpPr/>
          <p:nvPr/>
        </p:nvSpPr>
        <p:spPr>
          <a:xfrm>
            <a:off x="320040" y="2597040"/>
            <a:ext cx="54000" cy="694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Shape 17"/>
          <p:cNvSpPr/>
          <p:nvPr/>
        </p:nvSpPr>
        <p:spPr>
          <a:xfrm>
            <a:off x="457200" y="2715840"/>
            <a:ext cx="776520" cy="32832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18"/>
          <p:cNvSpPr/>
          <p:nvPr/>
        </p:nvSpPr>
        <p:spPr>
          <a:xfrm>
            <a:off x="457200" y="2715840"/>
            <a:ext cx="776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59e0b"/>
                </a:solidFill>
                <a:latin typeface="Calibri"/>
                <a:ea typeface="Calibri"/>
              </a:rPr>
              <a:t>Phase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Text 19"/>
          <p:cNvSpPr/>
          <p:nvPr/>
        </p:nvSpPr>
        <p:spPr>
          <a:xfrm>
            <a:off x="1353240" y="2660760"/>
            <a:ext cx="3931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EDA (8 étapes)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20"/>
          <p:cNvSpPr/>
          <p:nvPr/>
        </p:nvSpPr>
        <p:spPr>
          <a:xfrm>
            <a:off x="1353240" y="293508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MCAR/MAR/MNAR identifiés · outliers traités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Shape 21"/>
          <p:cNvSpPr/>
          <p:nvPr/>
        </p:nvSpPr>
        <p:spPr>
          <a:xfrm>
            <a:off x="320040" y="3401640"/>
            <a:ext cx="5119920" cy="6940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Shape 22"/>
          <p:cNvSpPr/>
          <p:nvPr/>
        </p:nvSpPr>
        <p:spPr>
          <a:xfrm>
            <a:off x="320040" y="3401640"/>
            <a:ext cx="54000" cy="6940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23"/>
          <p:cNvSpPr/>
          <p:nvPr/>
        </p:nvSpPr>
        <p:spPr>
          <a:xfrm>
            <a:off x="457200" y="3520440"/>
            <a:ext cx="776520" cy="328320"/>
          </a:xfrm>
          <a:prstGeom prst="rect">
            <a:avLst/>
          </a:prstGeom>
          <a:solidFill>
            <a:srgbClr val="818cf8">
              <a:alpha val="80000"/>
            </a:srgbClr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Text 24"/>
          <p:cNvSpPr/>
          <p:nvPr/>
        </p:nvSpPr>
        <p:spPr>
          <a:xfrm>
            <a:off x="457200" y="3520440"/>
            <a:ext cx="776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818cf8"/>
                </a:solidFill>
                <a:latin typeface="Calibri"/>
                <a:ea typeface="Calibri"/>
              </a:rPr>
              <a:t>Phase 4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25"/>
          <p:cNvSpPr/>
          <p:nvPr/>
        </p:nvSpPr>
        <p:spPr>
          <a:xfrm>
            <a:off x="1353240" y="3465720"/>
            <a:ext cx="3931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ML &amp; Stacking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26"/>
          <p:cNvSpPr/>
          <p:nvPr/>
        </p:nvSpPr>
        <p:spPr>
          <a:xfrm>
            <a:off x="1353240" y="374004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RMSLE 0.999 → 0.657 (RF) · R² 0.564 · −34% vs baseline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Shape 27"/>
          <p:cNvSpPr/>
          <p:nvPr/>
        </p:nvSpPr>
        <p:spPr>
          <a:xfrm>
            <a:off x="320040" y="4206240"/>
            <a:ext cx="5119920" cy="69408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28"/>
          <p:cNvSpPr/>
          <p:nvPr/>
        </p:nvSpPr>
        <p:spPr>
          <a:xfrm>
            <a:off x="320040" y="4206240"/>
            <a:ext cx="54000" cy="6940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Shape 29"/>
          <p:cNvSpPr/>
          <p:nvPr/>
        </p:nvSpPr>
        <p:spPr>
          <a:xfrm>
            <a:off x="457200" y="4325040"/>
            <a:ext cx="776520" cy="328320"/>
          </a:xfrm>
          <a:prstGeom prst="rect">
            <a:avLst/>
          </a:prstGeom>
          <a:solidFill>
            <a:srgbClr val="ec4899">
              <a:alpha val="8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30"/>
          <p:cNvSpPr/>
          <p:nvPr/>
        </p:nvSpPr>
        <p:spPr>
          <a:xfrm>
            <a:off x="457200" y="4325040"/>
            <a:ext cx="776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ec4899"/>
                </a:solidFill>
                <a:latin typeface="Calibri"/>
                <a:ea typeface="Calibri"/>
              </a:rPr>
              <a:t>Phase 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31"/>
          <p:cNvSpPr/>
          <p:nvPr/>
        </p:nvSpPr>
        <p:spPr>
          <a:xfrm>
            <a:off x="1353240" y="4270320"/>
            <a:ext cx="3931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Application Web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32"/>
          <p:cNvSpPr/>
          <p:nvPr/>
        </p:nvSpPr>
        <p:spPr>
          <a:xfrm>
            <a:off x="1353240" y="4544640"/>
            <a:ext cx="3931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API Flask + Next.js · Leaflet · Déployé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Shape 33"/>
          <p:cNvSpPr/>
          <p:nvPr/>
        </p:nvSpPr>
        <p:spPr>
          <a:xfrm>
            <a:off x="5669280" y="987480"/>
            <a:ext cx="3153960" cy="24498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Shape 34"/>
          <p:cNvSpPr/>
          <p:nvPr/>
        </p:nvSpPr>
        <p:spPr>
          <a:xfrm>
            <a:off x="5669280" y="987480"/>
            <a:ext cx="315396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Text 35"/>
          <p:cNvSpPr/>
          <p:nvPr/>
        </p:nvSpPr>
        <p:spPr>
          <a:xfrm>
            <a:off x="5806440" y="1078920"/>
            <a:ext cx="28796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LEÇONS APPRISES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Text 36"/>
          <p:cNvSpPr/>
          <p:nvPr/>
        </p:nvSpPr>
        <p:spPr>
          <a:xfrm>
            <a:off x="5779080" y="1389960"/>
            <a:ext cx="2943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2e8f0"/>
                </a:solidFill>
                <a:latin typeface="Calibri"/>
                <a:ea typeface="Calibri"/>
              </a:rPr>
              <a:t>1.  surface_m2, longitude, quartier_target_enc = top 3 features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Text 37"/>
          <p:cNvSpPr/>
          <p:nvPr/>
        </p:nvSpPr>
        <p:spPr>
          <a:xfrm>
            <a:off x="5779080" y="1774080"/>
            <a:ext cx="2943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2e8f0"/>
                </a:solidFill>
                <a:latin typeface="Calibri"/>
                <a:ea typeface="Calibri"/>
              </a:rPr>
              <a:t>2.  Log-transformer le prix est non-négociable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38"/>
          <p:cNvSpPr/>
          <p:nvPr/>
        </p:nvSpPr>
        <p:spPr>
          <a:xfrm>
            <a:off x="5779080" y="2157840"/>
            <a:ext cx="2943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2e8f0"/>
                </a:solidFill>
                <a:latin typeface="Calibri"/>
                <a:ea typeface="Calibri"/>
              </a:rPr>
              <a:t>3.  Stacking : le meta-learner doit avoir son propre CV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Text 39"/>
          <p:cNvSpPr/>
          <p:nvPr/>
        </p:nvSpPr>
        <p:spPr>
          <a:xfrm>
            <a:off x="5779080" y="2541960"/>
            <a:ext cx="2943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4.  Early stopping : mêmes conditions tuning &amp; entraînement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40"/>
          <p:cNvSpPr/>
          <p:nvPr/>
        </p:nvSpPr>
        <p:spPr>
          <a:xfrm>
            <a:off x="5779080" y="2926080"/>
            <a:ext cx="29437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5.  1 changement à la fois pour isoler les régressions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Shape 41"/>
          <p:cNvSpPr/>
          <p:nvPr/>
        </p:nvSpPr>
        <p:spPr>
          <a:xfrm>
            <a:off x="5669280" y="3547800"/>
            <a:ext cx="3153960" cy="13525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Shape 42"/>
          <p:cNvSpPr/>
          <p:nvPr/>
        </p:nvSpPr>
        <p:spPr>
          <a:xfrm>
            <a:off x="5669280" y="3547800"/>
            <a:ext cx="3153960" cy="54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43"/>
          <p:cNvSpPr/>
          <p:nvPr/>
        </p:nvSpPr>
        <p:spPr>
          <a:xfrm>
            <a:off x="5806440" y="3639240"/>
            <a:ext cx="28796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9e0b"/>
                </a:solidFill>
                <a:latin typeface="Calibri"/>
                <a:ea typeface="Calibri"/>
              </a:rPr>
              <a:t>AMÉLIORATIONS FUTURES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44"/>
          <p:cNvSpPr/>
          <p:nvPr/>
        </p:nvSpPr>
        <p:spPr>
          <a:xfrm>
            <a:off x="5779080" y="3950280"/>
            <a:ext cx="2943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→  </a:t>
            </a: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Étendre à Nouadhibou (2ème ville)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45"/>
          <p:cNvSpPr/>
          <p:nvPr/>
        </p:nvSpPr>
        <p:spPr>
          <a:xfrm>
            <a:off x="5779080" y="4187880"/>
            <a:ext cx="2943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→  </a:t>
            </a: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Scraping continu — mise à jour mensuelle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46"/>
          <p:cNvSpPr/>
          <p:nvPr/>
        </p:nvSpPr>
        <p:spPr>
          <a:xfrm>
            <a:off x="5779080" y="4425840"/>
            <a:ext cx="2943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→  </a:t>
            </a: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LLM arabe (AraBERT) pour le NLP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 47"/>
          <p:cNvSpPr/>
          <p:nvPr/>
        </p:nvSpPr>
        <p:spPr>
          <a:xfrm>
            <a:off x="5779080" y="4663440"/>
            <a:ext cx="2943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→  </a:t>
            </a: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Heatmap des prix sur la carte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hape 0"/>
          <p:cNvSpPr/>
          <p:nvPr/>
        </p:nvSpPr>
        <p:spPr>
          <a:xfrm>
            <a:off x="320040" y="201240"/>
            <a:ext cx="63360" cy="5662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1"/>
          <p:cNvSpPr/>
          <p:nvPr/>
        </p:nvSpPr>
        <p:spPr>
          <a:xfrm>
            <a:off x="475560" y="164520"/>
            <a:ext cx="832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Phase 1 — Web Scraping &amp; Collecte de Données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Shape 2"/>
          <p:cNvSpPr/>
          <p:nvPr/>
        </p:nvSpPr>
        <p:spPr>
          <a:xfrm>
            <a:off x="320040" y="840960"/>
            <a:ext cx="8503920" cy="360"/>
          </a:xfrm>
          <a:prstGeom prst="line">
            <a:avLst/>
          </a:prstGeom>
          <a:ln w="15240">
            <a:solidFill>
              <a:srgbClr val="00b4d8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7223760" y="201240"/>
            <a:ext cx="1645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Shape 5"/>
          <p:cNvSpPr/>
          <p:nvPr/>
        </p:nvSpPr>
        <p:spPr>
          <a:xfrm>
            <a:off x="320040" y="960120"/>
            <a:ext cx="4205520" cy="338256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457200" y="1024200"/>
            <a:ext cx="39312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SOURCES SCRAPPÉES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7"/>
          <p:cNvSpPr/>
          <p:nvPr/>
        </p:nvSpPr>
        <p:spPr>
          <a:xfrm>
            <a:off x="457200" y="1353240"/>
            <a:ext cx="16909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Site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 8"/>
          <p:cNvSpPr/>
          <p:nvPr/>
        </p:nvSpPr>
        <p:spPr>
          <a:xfrm>
            <a:off x="2194560" y="1353240"/>
            <a:ext cx="15080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Type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3749040" y="1353240"/>
            <a:ext cx="502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4" name="Shape 10"/>
          <p:cNvSpPr/>
          <p:nvPr/>
        </p:nvSpPr>
        <p:spPr>
          <a:xfrm>
            <a:off x="384120" y="1627560"/>
            <a:ext cx="4086720" cy="438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11"/>
          <p:cNvSpPr/>
          <p:nvPr/>
        </p:nvSpPr>
        <p:spPr>
          <a:xfrm>
            <a:off x="457200" y="1664280"/>
            <a:ext cx="1690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2e8f0"/>
                </a:solidFill>
                <a:latin typeface="Calibri"/>
                <a:ea typeface="Calibri"/>
              </a:rPr>
              <a:t>voursa.com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12"/>
          <p:cNvSpPr/>
          <p:nvPr/>
        </p:nvSpPr>
        <p:spPr>
          <a:xfrm>
            <a:off x="2194560" y="1664280"/>
            <a:ext cx="1508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Annonces locales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3749040" y="1664280"/>
            <a:ext cx="502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Shape 14"/>
          <p:cNvSpPr/>
          <p:nvPr/>
        </p:nvSpPr>
        <p:spPr>
          <a:xfrm>
            <a:off x="384120" y="2112120"/>
            <a:ext cx="4086720" cy="438120"/>
          </a:xfrm>
          <a:prstGeom prst="rect">
            <a:avLst/>
          </a:prstGeom>
          <a:solidFill>
            <a:srgbClr val="1a2f45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457200" y="2148840"/>
            <a:ext cx="1690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2e8f0"/>
                </a:solidFill>
                <a:latin typeface="Calibri"/>
                <a:ea typeface="Calibri"/>
              </a:rPr>
              <a:t>lagence-mr.com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16"/>
          <p:cNvSpPr/>
          <p:nvPr/>
        </p:nvSpPr>
        <p:spPr>
          <a:xfrm>
            <a:off x="2194560" y="2148840"/>
            <a:ext cx="1508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Agence premium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17"/>
          <p:cNvSpPr/>
          <p:nvPr/>
        </p:nvSpPr>
        <p:spPr>
          <a:xfrm>
            <a:off x="3749040" y="2148840"/>
            <a:ext cx="502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Shape 18"/>
          <p:cNvSpPr/>
          <p:nvPr/>
        </p:nvSpPr>
        <p:spPr>
          <a:xfrm>
            <a:off x="384120" y="2597040"/>
            <a:ext cx="4086720" cy="438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19"/>
          <p:cNvSpPr/>
          <p:nvPr/>
        </p:nvSpPr>
        <p:spPr>
          <a:xfrm>
            <a:off x="457200" y="2633400"/>
            <a:ext cx="1690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2e8f0"/>
                </a:solidFill>
                <a:latin typeface="Calibri"/>
                <a:ea typeface="Calibri"/>
              </a:rPr>
              <a:t>afribaba.com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 20"/>
          <p:cNvSpPr/>
          <p:nvPr/>
        </p:nvSpPr>
        <p:spPr>
          <a:xfrm>
            <a:off x="2194560" y="2633400"/>
            <a:ext cx="1508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Annonces Afrique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21"/>
          <p:cNvSpPr/>
          <p:nvPr/>
        </p:nvSpPr>
        <p:spPr>
          <a:xfrm>
            <a:off x="3749040" y="2633400"/>
            <a:ext cx="502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Shape 22"/>
          <p:cNvSpPr/>
          <p:nvPr/>
        </p:nvSpPr>
        <p:spPr>
          <a:xfrm>
            <a:off x="384120" y="3081600"/>
            <a:ext cx="4086720" cy="438120"/>
          </a:xfrm>
          <a:prstGeom prst="rect">
            <a:avLst/>
          </a:prstGeom>
          <a:solidFill>
            <a:srgbClr val="1a2f45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 23"/>
          <p:cNvSpPr/>
          <p:nvPr/>
        </p:nvSpPr>
        <p:spPr>
          <a:xfrm>
            <a:off x="457200" y="3117960"/>
            <a:ext cx="1690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2e8f0"/>
                </a:solidFill>
                <a:latin typeface="Calibri"/>
                <a:ea typeface="Calibri"/>
              </a:rPr>
              <a:t>mauri-home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24"/>
          <p:cNvSpPr/>
          <p:nvPr/>
        </p:nvSpPr>
        <p:spPr>
          <a:xfrm>
            <a:off x="2194560" y="3117960"/>
            <a:ext cx="1508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Portail immobilier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25"/>
          <p:cNvSpPr/>
          <p:nvPr/>
        </p:nvSpPr>
        <p:spPr>
          <a:xfrm>
            <a:off x="3749040" y="3117960"/>
            <a:ext cx="502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Shape 26"/>
          <p:cNvSpPr/>
          <p:nvPr/>
        </p:nvSpPr>
        <p:spPr>
          <a:xfrm>
            <a:off x="384120" y="3566160"/>
            <a:ext cx="4086720" cy="43812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27"/>
          <p:cNvSpPr/>
          <p:nvPr/>
        </p:nvSpPr>
        <p:spPr>
          <a:xfrm>
            <a:off x="457200" y="3602880"/>
            <a:ext cx="1690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2e8f0"/>
                </a:solidFill>
                <a:latin typeface="Calibri"/>
                <a:ea typeface="Calibri"/>
              </a:rPr>
              <a:t>untoitenrim.com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28"/>
          <p:cNvSpPr/>
          <p:nvPr/>
        </p:nvSpPr>
        <p:spPr>
          <a:xfrm>
            <a:off x="2194560" y="3602880"/>
            <a:ext cx="150804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Immobilier NKC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29"/>
          <p:cNvSpPr/>
          <p:nvPr/>
        </p:nvSpPr>
        <p:spPr>
          <a:xfrm>
            <a:off x="3749040" y="3602880"/>
            <a:ext cx="502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Shape 30"/>
          <p:cNvSpPr/>
          <p:nvPr/>
        </p:nvSpPr>
        <p:spPr>
          <a:xfrm>
            <a:off x="384120" y="4114800"/>
            <a:ext cx="4086720" cy="182160"/>
          </a:xfrm>
          <a:prstGeom prst="rect">
            <a:avLst/>
          </a:prstGeom>
          <a:solidFill>
            <a:srgbClr val="00b4d8">
              <a:alpha val="25000"/>
            </a:srgbClr>
          </a:solidFill>
          <a:ln w="12700">
            <a:solidFill>
              <a:srgbClr val="00b4d8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31"/>
          <p:cNvSpPr/>
          <p:nvPr/>
        </p:nvSpPr>
        <p:spPr>
          <a:xfrm>
            <a:off x="457200" y="4114800"/>
            <a:ext cx="39312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b4d8"/>
                </a:solidFill>
                <a:latin typeface="Calibri"/>
                <a:ea typeface="Calibri"/>
              </a:rPr>
              <a:t>Total collecté : 1 153 annonces nettoyées  ·  289 test  ·  5 sources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Shape 32"/>
          <p:cNvSpPr/>
          <p:nvPr/>
        </p:nvSpPr>
        <p:spPr>
          <a:xfrm>
            <a:off x="4709160" y="960120"/>
            <a:ext cx="4114080" cy="19652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33"/>
          <p:cNvSpPr/>
          <p:nvPr/>
        </p:nvSpPr>
        <p:spPr>
          <a:xfrm>
            <a:off x="4846320" y="102420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DONNÉES EXTRAITES PAR ANNONCE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34"/>
          <p:cNvSpPr/>
          <p:nvPr/>
        </p:nvSpPr>
        <p:spPr>
          <a:xfrm>
            <a:off x="4846320" y="137160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titre, type_bien, type_annonce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35"/>
          <p:cNvSpPr/>
          <p:nvPr/>
        </p:nvSpPr>
        <p:spPr>
          <a:xfrm>
            <a:off x="7452360" y="1371600"/>
            <a:ext cx="1279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Identification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Text 36"/>
          <p:cNvSpPr/>
          <p:nvPr/>
        </p:nvSpPr>
        <p:spPr>
          <a:xfrm>
            <a:off x="4846320" y="169164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prix (MRU), surface_m2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37"/>
          <p:cNvSpPr/>
          <p:nvPr/>
        </p:nvSpPr>
        <p:spPr>
          <a:xfrm>
            <a:off x="7452360" y="1691640"/>
            <a:ext cx="1279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Valeur &amp; taille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 38"/>
          <p:cNvSpPr/>
          <p:nvPr/>
        </p:nvSpPr>
        <p:spPr>
          <a:xfrm>
            <a:off x="4846320" y="201168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nb_chambres, nb_salons, nb_sdb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Text 39"/>
          <p:cNvSpPr/>
          <p:nvPr/>
        </p:nvSpPr>
        <p:spPr>
          <a:xfrm>
            <a:off x="7452360" y="2011680"/>
            <a:ext cx="1279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Pièces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40"/>
          <p:cNvSpPr/>
          <p:nvPr/>
        </p:nvSpPr>
        <p:spPr>
          <a:xfrm>
            <a:off x="4846320" y="233172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quartier, description, source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41"/>
          <p:cNvSpPr/>
          <p:nvPr/>
        </p:nvSpPr>
        <p:spPr>
          <a:xfrm>
            <a:off x="7452360" y="2331720"/>
            <a:ext cx="1279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Localisation &amp; texte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42"/>
          <p:cNvSpPr/>
          <p:nvPr/>
        </p:nvSpPr>
        <p:spPr>
          <a:xfrm>
            <a:off x="4846320" y="2651760"/>
            <a:ext cx="2559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caracteristiques, date_publication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Text 43"/>
          <p:cNvSpPr/>
          <p:nvPr/>
        </p:nvSpPr>
        <p:spPr>
          <a:xfrm>
            <a:off x="7452360" y="2651760"/>
            <a:ext cx="1279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Équipements &amp; date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Shape 44"/>
          <p:cNvSpPr/>
          <p:nvPr/>
        </p:nvSpPr>
        <p:spPr>
          <a:xfrm>
            <a:off x="4709160" y="2999160"/>
            <a:ext cx="4114080" cy="13435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45"/>
          <p:cNvSpPr/>
          <p:nvPr/>
        </p:nvSpPr>
        <p:spPr>
          <a:xfrm>
            <a:off x="4709160" y="2999160"/>
            <a:ext cx="4114080" cy="54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46"/>
          <p:cNvSpPr/>
          <p:nvPr/>
        </p:nvSpPr>
        <p:spPr>
          <a:xfrm>
            <a:off x="4846320" y="3090600"/>
            <a:ext cx="383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2c39a"/>
                </a:solidFill>
                <a:latin typeface="Calibri"/>
                <a:ea typeface="Calibri"/>
              </a:rPr>
              <a:t>ÉTHIQUE DU SCRAPING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47"/>
          <p:cNvSpPr/>
          <p:nvPr/>
        </p:nvSpPr>
        <p:spPr>
          <a:xfrm>
            <a:off x="4846320" y="340164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✓  </a:t>
            </a: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Respect du robots.txt de chaque site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48"/>
          <p:cNvSpPr/>
          <p:nvPr/>
        </p:nvSpPr>
        <p:spPr>
          <a:xfrm>
            <a:off x="4846320" y="363924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✓  </a:t>
            </a: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Pauses entre requêtes (time.sleep(2))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49"/>
          <p:cNvSpPr/>
          <p:nvPr/>
        </p:nvSpPr>
        <p:spPr>
          <a:xfrm>
            <a:off x="4846320" y="387720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✓  </a:t>
            </a: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Anonymisation des numéros de téléphone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Text 50"/>
          <p:cNvSpPr/>
          <p:nvPr/>
        </p:nvSpPr>
        <p:spPr>
          <a:xfrm>
            <a:off x="4846320" y="411480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✓  </a:t>
            </a: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Usage académique uniquement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0"/>
          <p:cNvSpPr/>
          <p:nvPr/>
        </p:nvSpPr>
        <p:spPr>
          <a:xfrm>
            <a:off x="320040" y="201240"/>
            <a:ext cx="63360" cy="5662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475560" y="164520"/>
            <a:ext cx="832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Phase 2 — Géo-Enrichissement (OpenStreetMap)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Shape 2"/>
          <p:cNvSpPr/>
          <p:nvPr/>
        </p:nvSpPr>
        <p:spPr>
          <a:xfrm>
            <a:off x="320040" y="840960"/>
            <a:ext cx="8503920" cy="360"/>
          </a:xfrm>
          <a:prstGeom prst="line">
            <a:avLst/>
          </a:prstGeom>
          <a:ln w="15240">
            <a:solidFill>
              <a:srgbClr val="02c39a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7223760" y="201240"/>
            <a:ext cx="1645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Shape 5"/>
          <p:cNvSpPr/>
          <p:nvPr/>
        </p:nvSpPr>
        <p:spPr>
          <a:xfrm>
            <a:off x="274680" y="1627920"/>
            <a:ext cx="4296960" cy="11149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6"/>
          <p:cNvSpPr/>
          <p:nvPr/>
        </p:nvSpPr>
        <p:spPr>
          <a:xfrm>
            <a:off x="274680" y="1627920"/>
            <a:ext cx="54000" cy="11149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457200" y="1673640"/>
            <a:ext cx="502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2c39a"/>
                </a:solidFill>
                <a:latin typeface="Calibri"/>
                <a:ea typeface="Calibri"/>
              </a:rPr>
              <a:t>GPS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1005840" y="162792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Géocodage Nominatim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9"/>
          <p:cNvSpPr/>
          <p:nvPr/>
        </p:nvSpPr>
        <p:spPr>
          <a:xfrm>
            <a:off x="1005840" y="1828800"/>
            <a:ext cx="34282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Conversion des noms de quartiers → coordonnées GPS (lat/lon) via l'API gratuite OpenStreetMap/Nominatim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10"/>
          <p:cNvSpPr/>
          <p:nvPr/>
        </p:nvSpPr>
        <p:spPr>
          <a:xfrm>
            <a:off x="2057400" y="2971800"/>
            <a:ext cx="45648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2c39a"/>
                </a:solidFill>
                <a:latin typeface="Calibri"/>
                <a:ea typeface="Calibri"/>
              </a:rPr>
              <a:t>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Text 13"/>
          <p:cNvSpPr/>
          <p:nvPr/>
        </p:nvSpPr>
        <p:spPr>
          <a:xfrm>
            <a:off x="457200" y="2386440"/>
            <a:ext cx="502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14"/>
          <p:cNvSpPr/>
          <p:nvPr/>
        </p:nvSpPr>
        <p:spPr>
          <a:xfrm>
            <a:off x="1005840" y="232272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5"/>
          <p:cNvSpPr/>
          <p:nvPr/>
        </p:nvSpPr>
        <p:spPr>
          <a:xfrm>
            <a:off x="1005840" y="2633400"/>
            <a:ext cx="34282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 16"/>
          <p:cNvSpPr/>
          <p:nvPr/>
        </p:nvSpPr>
        <p:spPr>
          <a:xfrm>
            <a:off x="2011680" y="3383280"/>
            <a:ext cx="456480" cy="10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b4d8"/>
                </a:solidFill>
                <a:latin typeface="Calibri"/>
                <a:ea typeface="Calibri"/>
              </a:rPr>
              <a:t>↓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7"/>
          <p:cNvSpPr/>
          <p:nvPr/>
        </p:nvSpPr>
        <p:spPr>
          <a:xfrm>
            <a:off x="320040" y="3228120"/>
            <a:ext cx="4296960" cy="11149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Shape 18"/>
          <p:cNvSpPr/>
          <p:nvPr/>
        </p:nvSpPr>
        <p:spPr>
          <a:xfrm>
            <a:off x="320040" y="3228120"/>
            <a:ext cx="54000" cy="1114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19"/>
          <p:cNvSpPr/>
          <p:nvPr/>
        </p:nvSpPr>
        <p:spPr>
          <a:xfrm>
            <a:off x="457200" y="3429000"/>
            <a:ext cx="502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9e0b"/>
                </a:solidFill>
                <a:latin typeface="Calibri"/>
                <a:ea typeface="Calibri"/>
              </a:rPr>
              <a:t>POI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 20"/>
          <p:cNvSpPr/>
          <p:nvPr/>
        </p:nvSpPr>
        <p:spPr>
          <a:xfrm>
            <a:off x="1005840" y="3365280"/>
            <a:ext cx="347400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API Overpass — POI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Text 21"/>
          <p:cNvSpPr/>
          <p:nvPr/>
        </p:nvSpPr>
        <p:spPr>
          <a:xfrm>
            <a:off x="959760" y="3657600"/>
            <a:ext cx="34282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Points d'intérêt dans un rayon de 1 km : écoles, mosquées, commerces, hôpitaux → proxy de densité urbaine.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Shape 22"/>
          <p:cNvSpPr/>
          <p:nvPr/>
        </p:nvSpPr>
        <p:spPr>
          <a:xfrm>
            <a:off x="4800600" y="987480"/>
            <a:ext cx="4022640" cy="23036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23"/>
          <p:cNvSpPr/>
          <p:nvPr/>
        </p:nvSpPr>
        <p:spPr>
          <a:xfrm>
            <a:off x="4937760" y="1060560"/>
            <a:ext cx="37483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2c39a"/>
                </a:solidFill>
                <a:latin typeface="Calibri"/>
                <a:ea typeface="Calibri"/>
              </a:rPr>
              <a:t>FEATURES GÉOGRAPHIQUES CRÉÉES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24"/>
          <p:cNvSpPr/>
          <p:nvPr/>
        </p:nvSpPr>
        <p:spPr>
          <a:xfrm>
            <a:off x="4846320" y="1380600"/>
            <a:ext cx="3931200" cy="20520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25"/>
          <p:cNvSpPr/>
          <p:nvPr/>
        </p:nvSpPr>
        <p:spPr>
          <a:xfrm>
            <a:off x="4937760" y="140832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latitude, longitude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26"/>
          <p:cNvSpPr/>
          <p:nvPr/>
        </p:nvSpPr>
        <p:spPr>
          <a:xfrm>
            <a:off x="7360920" y="1408320"/>
            <a:ext cx="1370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GPS Nominatim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27"/>
          <p:cNvSpPr/>
          <p:nvPr/>
        </p:nvSpPr>
        <p:spPr>
          <a:xfrm>
            <a:off x="4937760" y="162324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dist_centre_ville_km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28"/>
          <p:cNvSpPr/>
          <p:nvPr/>
        </p:nvSpPr>
        <p:spPr>
          <a:xfrm>
            <a:off x="7360920" y="1623240"/>
            <a:ext cx="1370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Haversine → Ksar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29"/>
          <p:cNvSpPr/>
          <p:nvPr/>
        </p:nvSpPr>
        <p:spPr>
          <a:xfrm>
            <a:off x="4846320" y="1810440"/>
            <a:ext cx="3931200" cy="20520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30"/>
          <p:cNvSpPr/>
          <p:nvPr/>
        </p:nvSpPr>
        <p:spPr>
          <a:xfrm>
            <a:off x="4937760" y="183780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dist_aeroport_km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 31"/>
          <p:cNvSpPr/>
          <p:nvPr/>
        </p:nvSpPr>
        <p:spPr>
          <a:xfrm>
            <a:off x="7360920" y="1837800"/>
            <a:ext cx="1370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Haversine → Oumtounsy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32"/>
          <p:cNvSpPr/>
          <p:nvPr/>
        </p:nvSpPr>
        <p:spPr>
          <a:xfrm>
            <a:off x="4937760" y="205272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dist_plage_km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33"/>
          <p:cNvSpPr/>
          <p:nvPr/>
        </p:nvSpPr>
        <p:spPr>
          <a:xfrm>
            <a:off x="7360920" y="2052720"/>
            <a:ext cx="1370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Haversine → côte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34"/>
          <p:cNvSpPr/>
          <p:nvPr/>
        </p:nvSpPr>
        <p:spPr>
          <a:xfrm>
            <a:off x="4846320" y="2240280"/>
            <a:ext cx="3931200" cy="20520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35"/>
          <p:cNvSpPr/>
          <p:nvPr/>
        </p:nvSpPr>
        <p:spPr>
          <a:xfrm>
            <a:off x="4937760" y="226764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nb_ecoles_1km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36"/>
          <p:cNvSpPr/>
          <p:nvPr/>
        </p:nvSpPr>
        <p:spPr>
          <a:xfrm>
            <a:off x="7360920" y="2267640"/>
            <a:ext cx="1370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Overpass API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 37"/>
          <p:cNvSpPr/>
          <p:nvPr/>
        </p:nvSpPr>
        <p:spPr>
          <a:xfrm>
            <a:off x="4937760" y="248256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nb_mosquees_1km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38"/>
          <p:cNvSpPr/>
          <p:nvPr/>
        </p:nvSpPr>
        <p:spPr>
          <a:xfrm>
            <a:off x="7360920" y="2482560"/>
            <a:ext cx="1370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Overpass API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Shape 39"/>
          <p:cNvSpPr/>
          <p:nvPr/>
        </p:nvSpPr>
        <p:spPr>
          <a:xfrm>
            <a:off x="4846320" y="2670120"/>
            <a:ext cx="3931200" cy="20520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40"/>
          <p:cNvSpPr/>
          <p:nvPr/>
        </p:nvSpPr>
        <p:spPr>
          <a:xfrm>
            <a:off x="4937760" y="269748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nb_commerces_1km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41"/>
          <p:cNvSpPr/>
          <p:nvPr/>
        </p:nvSpPr>
        <p:spPr>
          <a:xfrm>
            <a:off x="7360920" y="2697480"/>
            <a:ext cx="1370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Overpass API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42"/>
          <p:cNvSpPr/>
          <p:nvPr/>
        </p:nvSpPr>
        <p:spPr>
          <a:xfrm>
            <a:off x="4937760" y="291240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nb_hopitaux_1km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43"/>
          <p:cNvSpPr/>
          <p:nvPr/>
        </p:nvSpPr>
        <p:spPr>
          <a:xfrm>
            <a:off x="7360920" y="2912400"/>
            <a:ext cx="1370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Overpass API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Shape 44"/>
          <p:cNvSpPr/>
          <p:nvPr/>
        </p:nvSpPr>
        <p:spPr>
          <a:xfrm>
            <a:off x="4846320" y="3099960"/>
            <a:ext cx="3931200" cy="20520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45"/>
          <p:cNvSpPr/>
          <p:nvPr/>
        </p:nvSpPr>
        <p:spPr>
          <a:xfrm>
            <a:off x="4937760" y="312732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onsolas"/>
                <a:ea typeface="Consolas"/>
              </a:rPr>
              <a:t>nb_total_pois_1km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 46"/>
          <p:cNvSpPr/>
          <p:nvPr/>
        </p:nvSpPr>
        <p:spPr>
          <a:xfrm>
            <a:off x="7360920" y="3127320"/>
            <a:ext cx="1370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Proxy urbanisation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48"/>
          <p:cNvSpPr/>
          <p:nvPr/>
        </p:nvSpPr>
        <p:spPr>
          <a:xfrm>
            <a:off x="4800600" y="3727440"/>
            <a:ext cx="4022640" cy="41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Text 49"/>
          <p:cNvSpPr/>
          <p:nvPr/>
        </p:nvSpPr>
        <p:spPr>
          <a:xfrm>
            <a:off x="4937760" y="4171680"/>
            <a:ext cx="37483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Shape 0"/>
          <p:cNvSpPr/>
          <p:nvPr/>
        </p:nvSpPr>
        <p:spPr>
          <a:xfrm>
            <a:off x="320040" y="201240"/>
            <a:ext cx="63360" cy="566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1"/>
          <p:cNvSpPr/>
          <p:nvPr/>
        </p:nvSpPr>
        <p:spPr>
          <a:xfrm>
            <a:off x="475560" y="164520"/>
            <a:ext cx="832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Phase 3 — EDA Complète (Roadmap 8 Étapes)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Shape 2"/>
          <p:cNvSpPr/>
          <p:nvPr/>
        </p:nvSpPr>
        <p:spPr>
          <a:xfrm>
            <a:off x="320040" y="840960"/>
            <a:ext cx="8503920" cy="360"/>
          </a:xfrm>
          <a:prstGeom prst="line">
            <a:avLst/>
          </a:prstGeom>
          <a:ln w="15240">
            <a:solidFill>
              <a:srgbClr val="f59e0b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hape 5"/>
          <p:cNvSpPr/>
          <p:nvPr/>
        </p:nvSpPr>
        <p:spPr>
          <a:xfrm>
            <a:off x="320040" y="987480"/>
            <a:ext cx="4205520" cy="840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Shape 6"/>
          <p:cNvSpPr/>
          <p:nvPr/>
        </p:nvSpPr>
        <p:spPr>
          <a:xfrm>
            <a:off x="320040" y="987480"/>
            <a:ext cx="54000" cy="840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7"/>
          <p:cNvSpPr/>
          <p:nvPr/>
        </p:nvSpPr>
        <p:spPr>
          <a:xfrm>
            <a:off x="457200" y="1097280"/>
            <a:ext cx="419760" cy="419760"/>
          </a:xfrm>
          <a:prstGeom prst="rect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8"/>
          <p:cNvSpPr/>
          <p:nvPr/>
        </p:nvSpPr>
        <p:spPr>
          <a:xfrm>
            <a:off x="457200" y="1097280"/>
            <a:ext cx="419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b4d8"/>
                </a:solidFill>
                <a:latin typeface="Calibri"/>
                <a:ea typeface="Calibri"/>
              </a:rPr>
              <a:t>01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 9"/>
          <p:cNvSpPr/>
          <p:nvPr/>
        </p:nvSpPr>
        <p:spPr>
          <a:xfrm>
            <a:off x="978480" y="1078920"/>
            <a:ext cx="3400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Chargement &amp; Inspection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Text 10"/>
          <p:cNvSpPr/>
          <p:nvPr/>
        </p:nvSpPr>
        <p:spPr>
          <a:xfrm>
            <a:off x="978480" y="1389960"/>
            <a:ext cx="3400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Types, dimensions, aperçu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Shape 11"/>
          <p:cNvSpPr/>
          <p:nvPr/>
        </p:nvSpPr>
        <p:spPr>
          <a:xfrm>
            <a:off x="4754880" y="987480"/>
            <a:ext cx="4205520" cy="840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Shape 12"/>
          <p:cNvSpPr/>
          <p:nvPr/>
        </p:nvSpPr>
        <p:spPr>
          <a:xfrm>
            <a:off x="4754880" y="987480"/>
            <a:ext cx="54000" cy="840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Shape 13"/>
          <p:cNvSpPr/>
          <p:nvPr/>
        </p:nvSpPr>
        <p:spPr>
          <a:xfrm>
            <a:off x="4892040" y="1097280"/>
            <a:ext cx="419760" cy="419760"/>
          </a:xfrm>
          <a:prstGeom prst="rect">
            <a:avLst/>
          </a:prstGeom>
          <a:solidFill>
            <a:srgbClr val="00b4d8">
              <a:alpha val="80000"/>
            </a:srgbClr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 14"/>
          <p:cNvSpPr/>
          <p:nvPr/>
        </p:nvSpPr>
        <p:spPr>
          <a:xfrm>
            <a:off x="4892040" y="1097280"/>
            <a:ext cx="419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b4d8"/>
                </a:solidFill>
                <a:latin typeface="Calibri"/>
                <a:ea typeface="Calibri"/>
              </a:rPr>
              <a:t>02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Text 15"/>
          <p:cNvSpPr/>
          <p:nvPr/>
        </p:nvSpPr>
        <p:spPr>
          <a:xfrm>
            <a:off x="5413320" y="1078920"/>
            <a:ext cx="3400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Nettoyage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16"/>
          <p:cNvSpPr/>
          <p:nvPr/>
        </p:nvSpPr>
        <p:spPr>
          <a:xfrm>
            <a:off x="5413320" y="1389960"/>
            <a:ext cx="3400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Devises → MRU, quartiers normalisés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Shape 17"/>
          <p:cNvSpPr/>
          <p:nvPr/>
        </p:nvSpPr>
        <p:spPr>
          <a:xfrm>
            <a:off x="320040" y="1974960"/>
            <a:ext cx="4205520" cy="840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18"/>
          <p:cNvSpPr/>
          <p:nvPr/>
        </p:nvSpPr>
        <p:spPr>
          <a:xfrm>
            <a:off x="320040" y="1974960"/>
            <a:ext cx="54000" cy="840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19"/>
          <p:cNvSpPr/>
          <p:nvPr/>
        </p:nvSpPr>
        <p:spPr>
          <a:xfrm>
            <a:off x="457200" y="2084760"/>
            <a:ext cx="419760" cy="41976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 20"/>
          <p:cNvSpPr/>
          <p:nvPr/>
        </p:nvSpPr>
        <p:spPr>
          <a:xfrm>
            <a:off x="457200" y="2084760"/>
            <a:ext cx="419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59e0b"/>
                </a:solidFill>
                <a:latin typeface="Calibri"/>
                <a:ea typeface="Calibri"/>
              </a:rPr>
              <a:t>03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21"/>
          <p:cNvSpPr/>
          <p:nvPr/>
        </p:nvSpPr>
        <p:spPr>
          <a:xfrm>
            <a:off x="978480" y="2066400"/>
            <a:ext cx="3400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Valeurs manquantes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Text 22"/>
          <p:cNvSpPr/>
          <p:nvPr/>
        </p:nvSpPr>
        <p:spPr>
          <a:xfrm>
            <a:off x="978480" y="2377440"/>
            <a:ext cx="3400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MCAR / MAR / MNAR identifiés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23"/>
          <p:cNvSpPr/>
          <p:nvPr/>
        </p:nvSpPr>
        <p:spPr>
          <a:xfrm>
            <a:off x="4754880" y="1974960"/>
            <a:ext cx="4205520" cy="840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Shape 24"/>
          <p:cNvSpPr/>
          <p:nvPr/>
        </p:nvSpPr>
        <p:spPr>
          <a:xfrm>
            <a:off x="4754880" y="1974960"/>
            <a:ext cx="54000" cy="840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25"/>
          <p:cNvSpPr/>
          <p:nvPr/>
        </p:nvSpPr>
        <p:spPr>
          <a:xfrm>
            <a:off x="4892040" y="2084760"/>
            <a:ext cx="419760" cy="41976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26"/>
          <p:cNvSpPr/>
          <p:nvPr/>
        </p:nvSpPr>
        <p:spPr>
          <a:xfrm>
            <a:off x="4892040" y="2084760"/>
            <a:ext cx="419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59e0b"/>
                </a:solidFill>
                <a:latin typeface="Calibri"/>
                <a:ea typeface="Calibri"/>
              </a:rPr>
              <a:t>04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27"/>
          <p:cNvSpPr/>
          <p:nvPr/>
        </p:nvSpPr>
        <p:spPr>
          <a:xfrm>
            <a:off x="5413320" y="2066400"/>
            <a:ext cx="3400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Outliers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Text 28"/>
          <p:cNvSpPr/>
          <p:nvPr/>
        </p:nvSpPr>
        <p:spPr>
          <a:xfrm>
            <a:off x="5413320" y="2377440"/>
            <a:ext cx="3400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Contexte métier mauritanien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Shape 29"/>
          <p:cNvSpPr/>
          <p:nvPr/>
        </p:nvSpPr>
        <p:spPr>
          <a:xfrm>
            <a:off x="320040" y="2962800"/>
            <a:ext cx="4205520" cy="840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Shape 30"/>
          <p:cNvSpPr/>
          <p:nvPr/>
        </p:nvSpPr>
        <p:spPr>
          <a:xfrm>
            <a:off x="320040" y="2962800"/>
            <a:ext cx="54000" cy="840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Shape 31"/>
          <p:cNvSpPr/>
          <p:nvPr/>
        </p:nvSpPr>
        <p:spPr>
          <a:xfrm>
            <a:off x="457200" y="3072240"/>
            <a:ext cx="419760" cy="419760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32"/>
          <p:cNvSpPr/>
          <p:nvPr/>
        </p:nvSpPr>
        <p:spPr>
          <a:xfrm>
            <a:off x="457200" y="3072240"/>
            <a:ext cx="419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2c39a"/>
                </a:solidFill>
                <a:latin typeface="Calibri"/>
                <a:ea typeface="Calibri"/>
              </a:rPr>
              <a:t>05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 33"/>
          <p:cNvSpPr/>
          <p:nvPr/>
        </p:nvSpPr>
        <p:spPr>
          <a:xfrm>
            <a:off x="978480" y="3054240"/>
            <a:ext cx="3400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Analyse univariée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Text 34"/>
          <p:cNvSpPr/>
          <p:nvPr/>
        </p:nvSpPr>
        <p:spPr>
          <a:xfrm>
            <a:off x="978480" y="3364920"/>
            <a:ext cx="3400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Distribution prix, surface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Shape 35"/>
          <p:cNvSpPr/>
          <p:nvPr/>
        </p:nvSpPr>
        <p:spPr>
          <a:xfrm>
            <a:off x="4754880" y="2962800"/>
            <a:ext cx="4205520" cy="840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Shape 36"/>
          <p:cNvSpPr/>
          <p:nvPr/>
        </p:nvSpPr>
        <p:spPr>
          <a:xfrm>
            <a:off x="4754880" y="2962800"/>
            <a:ext cx="54000" cy="840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Shape 37"/>
          <p:cNvSpPr/>
          <p:nvPr/>
        </p:nvSpPr>
        <p:spPr>
          <a:xfrm>
            <a:off x="4892040" y="3072240"/>
            <a:ext cx="419760" cy="419760"/>
          </a:xfrm>
          <a:prstGeom prst="rect">
            <a:avLst/>
          </a:prstGeom>
          <a:solidFill>
            <a:srgbClr val="02c39a">
              <a:alpha val="80000"/>
            </a:srgbClr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38"/>
          <p:cNvSpPr/>
          <p:nvPr/>
        </p:nvSpPr>
        <p:spPr>
          <a:xfrm>
            <a:off x="4892040" y="3072240"/>
            <a:ext cx="419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2c39a"/>
                </a:solidFill>
                <a:latin typeface="Calibri"/>
                <a:ea typeface="Calibri"/>
              </a:rPr>
              <a:t>06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 39"/>
          <p:cNvSpPr/>
          <p:nvPr/>
        </p:nvSpPr>
        <p:spPr>
          <a:xfrm>
            <a:off x="5413320" y="3054240"/>
            <a:ext cx="3400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Analyse bivariée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40"/>
          <p:cNvSpPr/>
          <p:nvPr/>
        </p:nvSpPr>
        <p:spPr>
          <a:xfrm>
            <a:off x="5413320" y="3364920"/>
            <a:ext cx="3400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Prix vs quartier, surface, pièces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Shape 41"/>
          <p:cNvSpPr/>
          <p:nvPr/>
        </p:nvSpPr>
        <p:spPr>
          <a:xfrm>
            <a:off x="320040" y="3950280"/>
            <a:ext cx="4205520" cy="840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Shape 42"/>
          <p:cNvSpPr/>
          <p:nvPr/>
        </p:nvSpPr>
        <p:spPr>
          <a:xfrm>
            <a:off x="320040" y="3950280"/>
            <a:ext cx="54000" cy="8406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Shape 43"/>
          <p:cNvSpPr/>
          <p:nvPr/>
        </p:nvSpPr>
        <p:spPr>
          <a:xfrm>
            <a:off x="457200" y="4060080"/>
            <a:ext cx="419760" cy="419760"/>
          </a:xfrm>
          <a:prstGeom prst="rect">
            <a:avLst/>
          </a:prstGeom>
          <a:solidFill>
            <a:srgbClr val="818cf8">
              <a:alpha val="80000"/>
            </a:srgbClr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 44"/>
          <p:cNvSpPr/>
          <p:nvPr/>
        </p:nvSpPr>
        <p:spPr>
          <a:xfrm>
            <a:off x="457200" y="4060080"/>
            <a:ext cx="419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18cf8"/>
                </a:solidFill>
                <a:latin typeface="Calibri"/>
                <a:ea typeface="Calibri"/>
              </a:rPr>
              <a:t>07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45"/>
          <p:cNvSpPr/>
          <p:nvPr/>
        </p:nvSpPr>
        <p:spPr>
          <a:xfrm>
            <a:off x="978480" y="4041720"/>
            <a:ext cx="3400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Analyse multivariée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46"/>
          <p:cNvSpPr/>
          <p:nvPr/>
        </p:nvSpPr>
        <p:spPr>
          <a:xfrm>
            <a:off x="978480" y="4352400"/>
            <a:ext cx="3400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Corrélations, PCA géographique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47"/>
          <p:cNvSpPr/>
          <p:nvPr/>
        </p:nvSpPr>
        <p:spPr>
          <a:xfrm>
            <a:off x="4754880" y="3950280"/>
            <a:ext cx="4205520" cy="8406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Shape 48"/>
          <p:cNvSpPr/>
          <p:nvPr/>
        </p:nvSpPr>
        <p:spPr>
          <a:xfrm>
            <a:off x="4754880" y="3950280"/>
            <a:ext cx="54000" cy="8406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Shape 49"/>
          <p:cNvSpPr/>
          <p:nvPr/>
        </p:nvSpPr>
        <p:spPr>
          <a:xfrm>
            <a:off x="4892040" y="4060080"/>
            <a:ext cx="419760" cy="419760"/>
          </a:xfrm>
          <a:prstGeom prst="rect">
            <a:avLst/>
          </a:prstGeom>
          <a:solidFill>
            <a:srgbClr val="818cf8">
              <a:alpha val="80000"/>
            </a:srgbClr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50"/>
          <p:cNvSpPr/>
          <p:nvPr/>
        </p:nvSpPr>
        <p:spPr>
          <a:xfrm>
            <a:off x="4892040" y="4060080"/>
            <a:ext cx="419760" cy="41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818cf8"/>
                </a:solidFill>
                <a:latin typeface="Calibri"/>
                <a:ea typeface="Calibri"/>
              </a:rPr>
              <a:t>08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51"/>
          <p:cNvSpPr/>
          <p:nvPr/>
        </p:nvSpPr>
        <p:spPr>
          <a:xfrm>
            <a:off x="5413320" y="4041720"/>
            <a:ext cx="3400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Préparation modélisation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 52"/>
          <p:cNvSpPr/>
          <p:nvPr/>
        </p:nvSpPr>
        <p:spPr>
          <a:xfrm>
            <a:off x="5413320" y="4352400"/>
            <a:ext cx="34009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Encodage, log-transform, split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Shape 53"/>
          <p:cNvSpPr/>
          <p:nvPr/>
        </p:nvSpPr>
        <p:spPr>
          <a:xfrm>
            <a:off x="320040" y="4663440"/>
            <a:ext cx="8503200" cy="346680"/>
          </a:xfrm>
          <a:prstGeom prst="rect">
            <a:avLst/>
          </a:prstGeom>
          <a:solidFill>
            <a:srgbClr val="0a1628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54"/>
          <p:cNvSpPr/>
          <p:nvPr/>
        </p:nvSpPr>
        <p:spPr>
          <a:xfrm>
            <a:off x="457200" y="466344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59e0b"/>
                </a:solidFill>
                <a:latin typeface="Calibri"/>
                <a:ea typeface="Calibri"/>
              </a:rPr>
              <a:t>Découverte clé : </a:t>
            </a: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Calibri"/>
              </a:rPr>
              <a:t>Prix médian Tevragh Zeina ≈ 7.5× Riyadh  ·  nb_sdb manquant à 72%  ·  Texte multilingue FR+AR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Shape 0"/>
          <p:cNvSpPr/>
          <p:nvPr/>
        </p:nvSpPr>
        <p:spPr>
          <a:xfrm>
            <a:off x="320040" y="201240"/>
            <a:ext cx="63360" cy="566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1"/>
          <p:cNvSpPr/>
          <p:nvPr/>
        </p:nvSpPr>
        <p:spPr>
          <a:xfrm>
            <a:off x="475560" y="164520"/>
            <a:ext cx="832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Phase 3 — Visualisations EDA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Shape 2"/>
          <p:cNvSpPr/>
          <p:nvPr/>
        </p:nvSpPr>
        <p:spPr>
          <a:xfrm>
            <a:off x="320040" y="840960"/>
            <a:ext cx="8503920" cy="360"/>
          </a:xfrm>
          <a:prstGeom prst="line">
            <a:avLst/>
          </a:prstGeom>
          <a:ln w="15240">
            <a:solidFill>
              <a:srgbClr val="f59e0b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7" name="Image 0" descr="preencoded.png"/>
          <p:cNvPicPr/>
          <p:nvPr/>
        </p:nvPicPr>
        <p:blipFill>
          <a:blip r:embed="rId1"/>
          <a:stretch/>
        </p:blipFill>
        <p:spPr>
          <a:xfrm>
            <a:off x="320040" y="960120"/>
            <a:ext cx="5394240" cy="1846440"/>
          </a:xfrm>
          <a:prstGeom prst="rect">
            <a:avLst/>
          </a:prstGeom>
          <a:ln w="0">
            <a:noFill/>
          </a:ln>
        </p:spPr>
      </p:pic>
      <p:sp>
        <p:nvSpPr>
          <p:cNvPr id="238" name="Shape 5"/>
          <p:cNvSpPr/>
          <p:nvPr/>
        </p:nvSpPr>
        <p:spPr>
          <a:xfrm>
            <a:off x="320040" y="960120"/>
            <a:ext cx="5394240" cy="1846440"/>
          </a:xfrm>
          <a:prstGeom prst="rect">
            <a:avLst/>
          </a:prstGeom>
          <a:noFill/>
          <a:ln w="10160">
            <a:solidFill>
              <a:srgbClr val="334f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39" name="Image 1" descr="preencoded.png"/>
          <p:cNvPicPr/>
          <p:nvPr/>
        </p:nvPicPr>
        <p:blipFill>
          <a:blip r:embed="rId2"/>
          <a:stretch/>
        </p:blipFill>
        <p:spPr>
          <a:xfrm>
            <a:off x="5852160" y="960120"/>
            <a:ext cx="2971080" cy="1846440"/>
          </a:xfrm>
          <a:prstGeom prst="rect">
            <a:avLst/>
          </a:prstGeom>
          <a:ln w="0">
            <a:noFill/>
          </a:ln>
        </p:spPr>
      </p:pic>
      <p:sp>
        <p:nvSpPr>
          <p:cNvPr id="240" name="Shape 6"/>
          <p:cNvSpPr/>
          <p:nvPr/>
        </p:nvSpPr>
        <p:spPr>
          <a:xfrm>
            <a:off x="5852160" y="960120"/>
            <a:ext cx="2971080" cy="1846440"/>
          </a:xfrm>
          <a:prstGeom prst="rect">
            <a:avLst/>
          </a:prstGeom>
          <a:noFill/>
          <a:ln w="10160">
            <a:solidFill>
              <a:srgbClr val="334f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7"/>
          <p:cNvSpPr/>
          <p:nvPr/>
        </p:nvSpPr>
        <p:spPr>
          <a:xfrm>
            <a:off x="320040" y="2834640"/>
            <a:ext cx="539424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f59e0b"/>
                </a:solidFill>
                <a:latin typeface="Calibri"/>
                <a:ea typeface="Calibri"/>
              </a:rPr>
              <a:t>Étape 5.1 — Analyse Univariée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8"/>
          <p:cNvSpPr/>
          <p:nvPr/>
        </p:nvSpPr>
        <p:spPr>
          <a:xfrm>
            <a:off x="5852160" y="2834640"/>
            <a:ext cx="2971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f59e0b"/>
                </a:solidFill>
                <a:latin typeface="Calibri"/>
                <a:ea typeface="Calibri"/>
              </a:rPr>
              <a:t>Étape 4 — Analyse des Outliers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3" name="Image 2" descr="preencoded.png"/>
          <p:cNvPicPr/>
          <p:nvPr/>
        </p:nvPicPr>
        <p:blipFill>
          <a:blip r:embed="rId3"/>
          <a:stretch/>
        </p:blipFill>
        <p:spPr>
          <a:xfrm>
            <a:off x="320040" y="3090600"/>
            <a:ext cx="5394240" cy="1919520"/>
          </a:xfrm>
          <a:prstGeom prst="rect">
            <a:avLst/>
          </a:prstGeom>
          <a:ln w="0">
            <a:noFill/>
          </a:ln>
        </p:spPr>
      </p:pic>
      <p:sp>
        <p:nvSpPr>
          <p:cNvPr id="244" name="Shape 9"/>
          <p:cNvSpPr/>
          <p:nvPr/>
        </p:nvSpPr>
        <p:spPr>
          <a:xfrm>
            <a:off x="320040" y="3090600"/>
            <a:ext cx="5394240" cy="1919520"/>
          </a:xfrm>
          <a:prstGeom prst="rect">
            <a:avLst/>
          </a:prstGeom>
          <a:noFill/>
          <a:ln w="10160">
            <a:solidFill>
              <a:srgbClr val="334f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45" name="Image 3" descr="preencoded.png"/>
          <p:cNvPicPr/>
          <p:nvPr/>
        </p:nvPicPr>
        <p:blipFill>
          <a:blip r:embed="rId4"/>
          <a:stretch/>
        </p:blipFill>
        <p:spPr>
          <a:xfrm>
            <a:off x="5852160" y="3090600"/>
            <a:ext cx="2971080" cy="1919520"/>
          </a:xfrm>
          <a:prstGeom prst="rect">
            <a:avLst/>
          </a:prstGeom>
          <a:ln w="0">
            <a:noFill/>
          </a:ln>
        </p:spPr>
      </p:pic>
      <p:sp>
        <p:nvSpPr>
          <p:cNvPr id="246" name="Shape 10"/>
          <p:cNvSpPr/>
          <p:nvPr/>
        </p:nvSpPr>
        <p:spPr>
          <a:xfrm>
            <a:off x="5852160" y="3090600"/>
            <a:ext cx="2971080" cy="1919520"/>
          </a:xfrm>
          <a:prstGeom prst="rect">
            <a:avLst/>
          </a:prstGeom>
          <a:noFill/>
          <a:ln w="10160">
            <a:solidFill>
              <a:srgbClr val="334f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11"/>
          <p:cNvSpPr/>
          <p:nvPr/>
        </p:nvSpPr>
        <p:spPr>
          <a:xfrm>
            <a:off x="320040" y="5029200"/>
            <a:ext cx="53942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f59e0b"/>
                </a:solidFill>
                <a:latin typeface="Calibri"/>
                <a:ea typeface="Calibri"/>
              </a:rPr>
              <a:t>Étape 5.2 — Analyse Bivariée (prix/quartier, surface, chambres)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 12"/>
          <p:cNvSpPr/>
          <p:nvPr/>
        </p:nvSpPr>
        <p:spPr>
          <a:xfrm>
            <a:off x="5852160" y="5029200"/>
            <a:ext cx="29710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f59e0b"/>
                </a:solidFill>
                <a:latin typeface="Calibri"/>
                <a:ea typeface="Calibri"/>
              </a:rPr>
              <a:t>Matrice de Corrélation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0"/>
          <p:cNvSpPr/>
          <p:nvPr/>
        </p:nvSpPr>
        <p:spPr>
          <a:xfrm>
            <a:off x="320040" y="201240"/>
            <a:ext cx="63360" cy="5662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1"/>
          <p:cNvSpPr/>
          <p:nvPr/>
        </p:nvSpPr>
        <p:spPr>
          <a:xfrm>
            <a:off x="475560" y="164520"/>
            <a:ext cx="832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Phase 4 — Feature Engineering &amp; Modélisation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Shape 2"/>
          <p:cNvSpPr/>
          <p:nvPr/>
        </p:nvSpPr>
        <p:spPr>
          <a:xfrm>
            <a:off x="320040" y="840960"/>
            <a:ext cx="8503920" cy="360"/>
          </a:xfrm>
          <a:prstGeom prst="line">
            <a:avLst/>
          </a:prstGeom>
          <a:ln w="15240">
            <a:solidFill>
              <a:srgbClr val="818cf8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7223760" y="201240"/>
            <a:ext cx="1645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Shape 5"/>
          <p:cNvSpPr/>
          <p:nvPr/>
        </p:nvSpPr>
        <p:spPr>
          <a:xfrm>
            <a:off x="320040" y="960120"/>
            <a:ext cx="4159800" cy="39312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457200" y="1024200"/>
            <a:ext cx="3885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818cf8"/>
                </a:solidFill>
                <a:latin typeface="Calibri"/>
                <a:ea typeface="Calibri"/>
              </a:rPr>
              <a:t>FEATURES UTILISÉES (117 TOTAL)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Shape 7"/>
          <p:cNvSpPr/>
          <p:nvPr/>
        </p:nvSpPr>
        <p:spPr>
          <a:xfrm>
            <a:off x="384120" y="1389960"/>
            <a:ext cx="54000" cy="8953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 8"/>
          <p:cNvSpPr/>
          <p:nvPr/>
        </p:nvSpPr>
        <p:spPr>
          <a:xfrm>
            <a:off x="548640" y="1389960"/>
            <a:ext cx="38397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b4d8"/>
                </a:solidFill>
                <a:latin typeface="Calibri"/>
                <a:ea typeface="Calibri"/>
              </a:rPr>
              <a:t>STRUCTURELLES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9"/>
          <p:cNvSpPr/>
          <p:nvPr/>
        </p:nvSpPr>
        <p:spPr>
          <a:xfrm>
            <a:off x="548640" y="160920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surface_m2, nb_chambres, nb_salons, nb_sdb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Text 10"/>
          <p:cNvSpPr/>
          <p:nvPr/>
        </p:nvSpPr>
        <p:spPr>
          <a:xfrm>
            <a:off x="548640" y="184716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surface_par_piece, densite_pieces, log_surface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11"/>
          <p:cNvSpPr/>
          <p:nvPr/>
        </p:nvSpPr>
        <p:spPr>
          <a:xfrm>
            <a:off x="548640" y="208476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has_piscine, has_garage, has_clim, has_titre_foncier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Shape 12"/>
          <p:cNvSpPr/>
          <p:nvPr/>
        </p:nvSpPr>
        <p:spPr>
          <a:xfrm>
            <a:off x="384120" y="2432160"/>
            <a:ext cx="54000" cy="8953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13"/>
          <p:cNvSpPr/>
          <p:nvPr/>
        </p:nvSpPr>
        <p:spPr>
          <a:xfrm>
            <a:off x="548640" y="2432160"/>
            <a:ext cx="38397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2c39a"/>
                </a:solidFill>
                <a:latin typeface="Calibri"/>
                <a:ea typeface="Calibri"/>
              </a:rPr>
              <a:t>GÉOGRAPHIQUES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 14"/>
          <p:cNvSpPr/>
          <p:nvPr/>
        </p:nvSpPr>
        <p:spPr>
          <a:xfrm>
            <a:off x="548640" y="265176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latitude, longitude (Nominatim)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15"/>
          <p:cNvSpPr/>
          <p:nvPr/>
        </p:nvSpPr>
        <p:spPr>
          <a:xfrm>
            <a:off x="548640" y="288936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dist_centre_ville_km, dist_aeroport_km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Text 16"/>
          <p:cNvSpPr/>
          <p:nvPr/>
        </p:nvSpPr>
        <p:spPr>
          <a:xfrm>
            <a:off x="548640" y="312732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nb_ecoles/mosquees/commerces_1km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Shape 17"/>
          <p:cNvSpPr/>
          <p:nvPr/>
        </p:nvSpPr>
        <p:spPr>
          <a:xfrm>
            <a:off x="384120" y="3474720"/>
            <a:ext cx="54000" cy="895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18"/>
          <p:cNvSpPr/>
          <p:nvPr/>
        </p:nvSpPr>
        <p:spPr>
          <a:xfrm>
            <a:off x="548640" y="3474720"/>
            <a:ext cx="38397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59e0b"/>
                </a:solidFill>
                <a:latin typeface="Calibri"/>
                <a:ea typeface="Calibri"/>
              </a:rPr>
              <a:t>TEXTUELLES (NLP)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Text 19"/>
          <p:cNvSpPr/>
          <p:nvPr/>
        </p:nvSpPr>
        <p:spPr>
          <a:xfrm>
            <a:off x="548640" y="369432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TF-IDF FR bigrams → SVD 25 composantes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Text 20"/>
          <p:cNvSpPr/>
          <p:nvPr/>
        </p:nvSpPr>
        <p:spPr>
          <a:xfrm>
            <a:off x="548640" y="393192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TF-IDF AR char n-grams → SVD 25 composantes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21"/>
          <p:cNvSpPr/>
          <p:nvPr/>
        </p:nvSpPr>
        <p:spPr>
          <a:xfrm>
            <a:off x="548640" y="416952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Extraction prix + flags luxe, meublé…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Shape 22"/>
          <p:cNvSpPr/>
          <p:nvPr/>
        </p:nvSpPr>
        <p:spPr>
          <a:xfrm>
            <a:off x="384120" y="4517280"/>
            <a:ext cx="54000" cy="657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23"/>
          <p:cNvSpPr/>
          <p:nvPr/>
        </p:nvSpPr>
        <p:spPr>
          <a:xfrm>
            <a:off x="548640" y="4517280"/>
            <a:ext cx="383976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818cf8"/>
                </a:solidFill>
                <a:latin typeface="Calibri"/>
                <a:ea typeface="Calibri"/>
              </a:rPr>
              <a:t>ENCODAGE CIBLE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Text 24"/>
          <p:cNvSpPr/>
          <p:nvPr/>
        </p:nvSpPr>
        <p:spPr>
          <a:xfrm>
            <a:off x="548640" y="473652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Smoothed target encoding (k=30) du quartier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25"/>
          <p:cNvSpPr/>
          <p:nvPr/>
        </p:nvSpPr>
        <p:spPr>
          <a:xfrm>
            <a:off x="548640" y="4974480"/>
            <a:ext cx="3839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• </a:t>
            </a: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Recalculé à chaque fold (pas de leakage)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Shape 26"/>
          <p:cNvSpPr/>
          <p:nvPr/>
        </p:nvSpPr>
        <p:spPr>
          <a:xfrm>
            <a:off x="4663440" y="960120"/>
            <a:ext cx="4159800" cy="39312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Text 27"/>
          <p:cNvSpPr/>
          <p:nvPr/>
        </p:nvSpPr>
        <p:spPr>
          <a:xfrm>
            <a:off x="4800600" y="1024200"/>
            <a:ext cx="3885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818cf8"/>
                </a:solidFill>
                <a:latin typeface="Calibri"/>
                <a:ea typeface="Calibri"/>
              </a:rPr>
              <a:t>MODÈLES TESTÉS ET COMPARÉS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Shape 28"/>
          <p:cNvSpPr/>
          <p:nvPr/>
        </p:nvSpPr>
        <p:spPr>
          <a:xfrm>
            <a:off x="4736520" y="1389960"/>
            <a:ext cx="4022640" cy="45648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Shape 29"/>
          <p:cNvSpPr/>
          <p:nvPr/>
        </p:nvSpPr>
        <p:spPr>
          <a:xfrm>
            <a:off x="4736520" y="1481400"/>
            <a:ext cx="45000" cy="27360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30"/>
          <p:cNvSpPr/>
          <p:nvPr/>
        </p:nvSpPr>
        <p:spPr>
          <a:xfrm>
            <a:off x="4864680" y="1444680"/>
            <a:ext cx="2376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2e8f0"/>
                </a:solidFill>
                <a:latin typeface="Calibri"/>
                <a:ea typeface="Calibri"/>
              </a:rPr>
              <a:t>Régression Ridge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31"/>
          <p:cNvSpPr/>
          <p:nvPr/>
        </p:nvSpPr>
        <p:spPr>
          <a:xfrm>
            <a:off x="4864680" y="164592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Baseline régularisée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Shape 32"/>
          <p:cNvSpPr/>
          <p:nvPr/>
        </p:nvSpPr>
        <p:spPr>
          <a:xfrm>
            <a:off x="4736520" y="1929240"/>
            <a:ext cx="4022640" cy="456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Shape 33"/>
          <p:cNvSpPr/>
          <p:nvPr/>
        </p:nvSpPr>
        <p:spPr>
          <a:xfrm>
            <a:off x="4736520" y="2020680"/>
            <a:ext cx="45000" cy="273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Text 34"/>
          <p:cNvSpPr/>
          <p:nvPr/>
        </p:nvSpPr>
        <p:spPr>
          <a:xfrm>
            <a:off x="4864680" y="1984320"/>
            <a:ext cx="2376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2e8f0"/>
                </a:solidFill>
                <a:latin typeface="Calibri"/>
                <a:ea typeface="Calibri"/>
              </a:rPr>
              <a:t>Random Forest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35"/>
          <p:cNvSpPr/>
          <p:nvPr/>
        </p:nvSpPr>
        <p:spPr>
          <a:xfrm>
            <a:off x="4864680" y="218556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Non-linéaire, robuste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Shape 36"/>
          <p:cNvSpPr/>
          <p:nvPr/>
        </p:nvSpPr>
        <p:spPr>
          <a:xfrm>
            <a:off x="4736520" y="2468880"/>
            <a:ext cx="4022640" cy="45648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Shape 37"/>
          <p:cNvSpPr/>
          <p:nvPr/>
        </p:nvSpPr>
        <p:spPr>
          <a:xfrm>
            <a:off x="4736520" y="2560320"/>
            <a:ext cx="45000" cy="2736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 38"/>
          <p:cNvSpPr/>
          <p:nvPr/>
        </p:nvSpPr>
        <p:spPr>
          <a:xfrm>
            <a:off x="4864680" y="2523600"/>
            <a:ext cx="2376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2e8f0"/>
                </a:solidFill>
                <a:latin typeface="Calibri"/>
                <a:ea typeface="Calibri"/>
              </a:rPr>
              <a:t>ExtraTrees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39"/>
          <p:cNvSpPr/>
          <p:nvPr/>
        </p:nvSpPr>
        <p:spPr>
          <a:xfrm>
            <a:off x="4864680" y="272484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Variance réduite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Shape 40"/>
          <p:cNvSpPr/>
          <p:nvPr/>
        </p:nvSpPr>
        <p:spPr>
          <a:xfrm>
            <a:off x="4736520" y="3008520"/>
            <a:ext cx="4022640" cy="456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Shape 41"/>
          <p:cNvSpPr/>
          <p:nvPr/>
        </p:nvSpPr>
        <p:spPr>
          <a:xfrm>
            <a:off x="4736520" y="3099960"/>
            <a:ext cx="45000" cy="273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 42"/>
          <p:cNvSpPr/>
          <p:nvPr/>
        </p:nvSpPr>
        <p:spPr>
          <a:xfrm>
            <a:off x="4864680" y="3063240"/>
            <a:ext cx="2376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2e8f0"/>
                </a:solidFill>
                <a:latin typeface="Calibri"/>
                <a:ea typeface="Calibri"/>
              </a:rPr>
              <a:t>XGBoost (tuné Optuna)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43"/>
          <p:cNvSpPr/>
          <p:nvPr/>
        </p:nvSpPr>
        <p:spPr>
          <a:xfrm>
            <a:off x="4864680" y="326448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Meilleur booster tabular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Shape 44"/>
          <p:cNvSpPr/>
          <p:nvPr/>
        </p:nvSpPr>
        <p:spPr>
          <a:xfrm>
            <a:off x="4736520" y="3547800"/>
            <a:ext cx="4022640" cy="45648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Shape 45"/>
          <p:cNvSpPr/>
          <p:nvPr/>
        </p:nvSpPr>
        <p:spPr>
          <a:xfrm>
            <a:off x="4736520" y="3639240"/>
            <a:ext cx="45000" cy="273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Text 46"/>
          <p:cNvSpPr/>
          <p:nvPr/>
        </p:nvSpPr>
        <p:spPr>
          <a:xfrm>
            <a:off x="4864680" y="3602880"/>
            <a:ext cx="2376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2e8f0"/>
                </a:solidFill>
                <a:latin typeface="Calibri"/>
                <a:ea typeface="Calibri"/>
              </a:rPr>
              <a:t>LightGBM (tuné Optuna)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47"/>
          <p:cNvSpPr/>
          <p:nvPr/>
        </p:nvSpPr>
        <p:spPr>
          <a:xfrm>
            <a:off x="4864680" y="380376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Rapide, performant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Shape 48"/>
          <p:cNvSpPr/>
          <p:nvPr/>
        </p:nvSpPr>
        <p:spPr>
          <a:xfrm>
            <a:off x="4736520" y="4087440"/>
            <a:ext cx="4022640" cy="456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Shape 49"/>
          <p:cNvSpPr/>
          <p:nvPr/>
        </p:nvSpPr>
        <p:spPr>
          <a:xfrm>
            <a:off x="4736520" y="4178880"/>
            <a:ext cx="45000" cy="273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 50"/>
          <p:cNvSpPr/>
          <p:nvPr/>
        </p:nvSpPr>
        <p:spPr>
          <a:xfrm>
            <a:off x="4864680" y="4142160"/>
            <a:ext cx="2376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2e8f0"/>
                </a:solidFill>
                <a:latin typeface="Calibri"/>
                <a:ea typeface="Calibri"/>
              </a:rPr>
              <a:t>CatBoost (tuné Optuna)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 51"/>
          <p:cNvSpPr/>
          <p:nvPr/>
        </p:nvSpPr>
        <p:spPr>
          <a:xfrm>
            <a:off x="4864680" y="4343400"/>
            <a:ext cx="2376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Données catégorielles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Shape 52"/>
          <p:cNvSpPr/>
          <p:nvPr/>
        </p:nvSpPr>
        <p:spPr>
          <a:xfrm>
            <a:off x="4736520" y="4663440"/>
            <a:ext cx="4022640" cy="227880"/>
          </a:xfrm>
          <a:prstGeom prst="rect">
            <a:avLst/>
          </a:prstGeom>
          <a:solidFill>
            <a:srgbClr val="818cf8">
              <a:alpha val="25000"/>
            </a:srgbClr>
          </a:solidFill>
          <a:ln w="12700">
            <a:solidFill>
              <a:srgbClr val="818cf8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 53"/>
          <p:cNvSpPr/>
          <p:nvPr/>
        </p:nvSpPr>
        <p:spPr>
          <a:xfrm>
            <a:off x="4800600" y="4663440"/>
            <a:ext cx="39312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818cf8"/>
                </a:solidFill>
                <a:latin typeface="Calibri"/>
                <a:ea typeface="Calibri"/>
              </a:rPr>
              <a:t>Évaluation : 5-fold CV · Métrique : RMSLE · Hyperparamètres : Optuna (100 trials)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Shape 0"/>
          <p:cNvSpPr/>
          <p:nvPr/>
        </p:nvSpPr>
        <p:spPr>
          <a:xfrm>
            <a:off x="320040" y="201240"/>
            <a:ext cx="63360" cy="5662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 1"/>
          <p:cNvSpPr/>
          <p:nvPr/>
        </p:nvSpPr>
        <p:spPr>
          <a:xfrm>
            <a:off x="475560" y="164520"/>
            <a:ext cx="832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Phase 4 — Résultats &amp; Comparaison des Modèles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Shape 2"/>
          <p:cNvSpPr/>
          <p:nvPr/>
        </p:nvSpPr>
        <p:spPr>
          <a:xfrm>
            <a:off x="320040" y="840960"/>
            <a:ext cx="8503920" cy="360"/>
          </a:xfrm>
          <a:prstGeom prst="line">
            <a:avLst/>
          </a:prstGeom>
          <a:ln w="15240">
            <a:solidFill>
              <a:srgbClr val="818cf8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 4"/>
          <p:cNvSpPr/>
          <p:nvPr/>
        </p:nvSpPr>
        <p:spPr>
          <a:xfrm>
            <a:off x="7223760" y="201240"/>
            <a:ext cx="1645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06" name="Image 0" descr="preencoded.png"/>
          <p:cNvPicPr/>
          <p:nvPr/>
        </p:nvPicPr>
        <p:blipFill>
          <a:blip r:embed="rId1"/>
          <a:stretch/>
        </p:blipFill>
        <p:spPr>
          <a:xfrm>
            <a:off x="320040" y="960120"/>
            <a:ext cx="4159800" cy="2056680"/>
          </a:xfrm>
          <a:prstGeom prst="rect">
            <a:avLst/>
          </a:prstGeom>
          <a:ln w="0">
            <a:noFill/>
          </a:ln>
        </p:spPr>
      </p:pic>
      <p:sp>
        <p:nvSpPr>
          <p:cNvPr id="307" name="Shape 5"/>
          <p:cNvSpPr/>
          <p:nvPr/>
        </p:nvSpPr>
        <p:spPr>
          <a:xfrm>
            <a:off x="320040" y="960120"/>
            <a:ext cx="4159800" cy="2056680"/>
          </a:xfrm>
          <a:prstGeom prst="rect">
            <a:avLst/>
          </a:prstGeom>
          <a:noFill/>
          <a:ln w="10160">
            <a:solidFill>
              <a:srgbClr val="334f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 6"/>
          <p:cNvSpPr/>
          <p:nvPr/>
        </p:nvSpPr>
        <p:spPr>
          <a:xfrm>
            <a:off x="320040" y="3035880"/>
            <a:ext cx="4159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818cf8"/>
                </a:solidFill>
                <a:latin typeface="Calibri"/>
                <a:ea typeface="Calibri"/>
              </a:rPr>
              <a:t>Étape 6.4 — Comparaison RMSLE &amp; R² de tous les modèles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09" name="Image 1" descr="preencoded.png"/>
          <p:cNvPicPr/>
          <p:nvPr/>
        </p:nvPicPr>
        <p:blipFill>
          <a:blip r:embed="rId2"/>
          <a:stretch/>
        </p:blipFill>
        <p:spPr>
          <a:xfrm>
            <a:off x="320040" y="3291840"/>
            <a:ext cx="2010960" cy="1690920"/>
          </a:xfrm>
          <a:prstGeom prst="rect">
            <a:avLst/>
          </a:prstGeom>
          <a:ln w="0">
            <a:noFill/>
          </a:ln>
        </p:spPr>
      </p:pic>
      <p:sp>
        <p:nvSpPr>
          <p:cNvPr id="310" name="Shape 7"/>
          <p:cNvSpPr/>
          <p:nvPr/>
        </p:nvSpPr>
        <p:spPr>
          <a:xfrm>
            <a:off x="320040" y="3291840"/>
            <a:ext cx="2010960" cy="1690920"/>
          </a:xfrm>
          <a:prstGeom prst="rect">
            <a:avLst/>
          </a:prstGeom>
          <a:noFill/>
          <a:ln w="10160">
            <a:solidFill>
              <a:srgbClr val="334f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11" name="Image 2" descr="preencoded.png"/>
          <p:cNvPicPr/>
          <p:nvPr/>
        </p:nvPicPr>
        <p:blipFill>
          <a:blip r:embed="rId3"/>
          <a:stretch/>
        </p:blipFill>
        <p:spPr>
          <a:xfrm>
            <a:off x="2423160" y="3291840"/>
            <a:ext cx="2010960" cy="1690920"/>
          </a:xfrm>
          <a:prstGeom prst="rect">
            <a:avLst/>
          </a:prstGeom>
          <a:ln w="0">
            <a:noFill/>
          </a:ln>
        </p:spPr>
      </p:pic>
      <p:sp>
        <p:nvSpPr>
          <p:cNvPr id="312" name="Shape 8"/>
          <p:cNvSpPr/>
          <p:nvPr/>
        </p:nvSpPr>
        <p:spPr>
          <a:xfrm>
            <a:off x="2423160" y="3291840"/>
            <a:ext cx="2010960" cy="1690920"/>
          </a:xfrm>
          <a:prstGeom prst="rect">
            <a:avLst/>
          </a:prstGeom>
          <a:noFill/>
          <a:ln w="10160">
            <a:solidFill>
              <a:srgbClr val="334f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Text 9"/>
          <p:cNvSpPr/>
          <p:nvPr/>
        </p:nvSpPr>
        <p:spPr>
          <a:xfrm>
            <a:off x="320040" y="5001840"/>
            <a:ext cx="20109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818cf8"/>
                </a:solidFill>
                <a:latin typeface="Calibri"/>
                <a:ea typeface="Calibri"/>
              </a:rPr>
              <a:t>Feature Importance (RF)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Text 10"/>
          <p:cNvSpPr/>
          <p:nvPr/>
        </p:nvSpPr>
        <p:spPr>
          <a:xfrm>
            <a:off x="2423160" y="5001840"/>
            <a:ext cx="2010960" cy="15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850" spc="-1" strike="noStrike">
                <a:solidFill>
                  <a:srgbClr val="818cf8"/>
                </a:solidFill>
                <a:latin typeface="Calibri"/>
                <a:ea typeface="Calibri"/>
              </a:rPr>
              <a:t>Réel vs Prédit (RF)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Shape 11"/>
          <p:cNvSpPr/>
          <p:nvPr/>
        </p:nvSpPr>
        <p:spPr>
          <a:xfrm>
            <a:off x="4663440" y="960120"/>
            <a:ext cx="4159800" cy="39128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 12"/>
          <p:cNvSpPr/>
          <p:nvPr/>
        </p:nvSpPr>
        <p:spPr>
          <a:xfrm>
            <a:off x="4800600" y="1024200"/>
            <a:ext cx="3885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818cf8"/>
                </a:solidFill>
                <a:latin typeface="Calibri"/>
                <a:ea typeface="Calibri"/>
              </a:rPr>
              <a:t>RÉSULTATS (CHIFFRES DU NOTEBOOK)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Shape 13"/>
          <p:cNvSpPr/>
          <p:nvPr/>
        </p:nvSpPr>
        <p:spPr>
          <a:xfrm>
            <a:off x="4800600" y="1353240"/>
            <a:ext cx="2102400" cy="273600"/>
          </a:xfrm>
          <a:prstGeom prst="rect">
            <a:avLst/>
          </a:prstGeom>
          <a:solidFill>
            <a:srgbClr val="818cf8">
              <a:alpha val="70000"/>
            </a:srgbClr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 14"/>
          <p:cNvSpPr/>
          <p:nvPr/>
        </p:nvSpPr>
        <p:spPr>
          <a:xfrm>
            <a:off x="4800600" y="1353240"/>
            <a:ext cx="2102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Modèle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Shape 15"/>
          <p:cNvSpPr/>
          <p:nvPr/>
        </p:nvSpPr>
        <p:spPr>
          <a:xfrm>
            <a:off x="6995160" y="1353240"/>
            <a:ext cx="1032480" cy="273600"/>
          </a:xfrm>
          <a:prstGeom prst="rect">
            <a:avLst/>
          </a:prstGeom>
          <a:solidFill>
            <a:srgbClr val="818cf8">
              <a:alpha val="70000"/>
            </a:srgbClr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16"/>
          <p:cNvSpPr/>
          <p:nvPr/>
        </p:nvSpPr>
        <p:spPr>
          <a:xfrm>
            <a:off x="6995160" y="1353240"/>
            <a:ext cx="1032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RMSLE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Shape 17"/>
          <p:cNvSpPr/>
          <p:nvPr/>
        </p:nvSpPr>
        <p:spPr>
          <a:xfrm>
            <a:off x="8119800" y="1353240"/>
            <a:ext cx="703440" cy="273600"/>
          </a:xfrm>
          <a:prstGeom prst="rect">
            <a:avLst/>
          </a:prstGeom>
          <a:solidFill>
            <a:srgbClr val="818cf8">
              <a:alpha val="70000"/>
            </a:srgbClr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18"/>
          <p:cNvSpPr/>
          <p:nvPr/>
        </p:nvSpPr>
        <p:spPr>
          <a:xfrm>
            <a:off x="8119800" y="1353240"/>
            <a:ext cx="7034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fffff"/>
                </a:solidFill>
                <a:latin typeface="Calibri"/>
                <a:ea typeface="Calibri"/>
              </a:rPr>
              <a:t>R²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Shape 19"/>
          <p:cNvSpPr/>
          <p:nvPr/>
        </p:nvSpPr>
        <p:spPr>
          <a:xfrm>
            <a:off x="4736520" y="1664280"/>
            <a:ext cx="4022640" cy="310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Text 20"/>
          <p:cNvSpPr/>
          <p:nvPr/>
        </p:nvSpPr>
        <p:spPr>
          <a:xfrm>
            <a:off x="4800600" y="1700640"/>
            <a:ext cx="21024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0b4d8"/>
                </a:solidFill>
                <a:latin typeface="Calibri"/>
                <a:ea typeface="Calibri"/>
              </a:rPr>
              <a:t>Random Forest  ★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21"/>
          <p:cNvSpPr/>
          <p:nvPr/>
        </p:nvSpPr>
        <p:spPr>
          <a:xfrm>
            <a:off x="6995160" y="1700640"/>
            <a:ext cx="103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b4d8"/>
                </a:solidFill>
                <a:latin typeface="Calibri"/>
                <a:ea typeface="Calibri"/>
              </a:rPr>
              <a:t>0.657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 22"/>
          <p:cNvSpPr/>
          <p:nvPr/>
        </p:nvSpPr>
        <p:spPr>
          <a:xfrm>
            <a:off x="8119800" y="1700640"/>
            <a:ext cx="703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0b4d8"/>
                </a:solidFill>
                <a:latin typeface="Calibri"/>
                <a:ea typeface="Calibri"/>
              </a:rPr>
              <a:t>0.564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Shape 23"/>
          <p:cNvSpPr/>
          <p:nvPr/>
        </p:nvSpPr>
        <p:spPr>
          <a:xfrm>
            <a:off x="4736520" y="2002680"/>
            <a:ext cx="4022640" cy="310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 24"/>
          <p:cNvSpPr/>
          <p:nvPr/>
        </p:nvSpPr>
        <p:spPr>
          <a:xfrm>
            <a:off x="4800600" y="2039040"/>
            <a:ext cx="21024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Lasso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Text 25"/>
          <p:cNvSpPr/>
          <p:nvPr/>
        </p:nvSpPr>
        <p:spPr>
          <a:xfrm>
            <a:off x="6995160" y="2039040"/>
            <a:ext cx="103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0.672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26"/>
          <p:cNvSpPr/>
          <p:nvPr/>
        </p:nvSpPr>
        <p:spPr>
          <a:xfrm>
            <a:off x="8119800" y="2039040"/>
            <a:ext cx="703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0.545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Shape 27"/>
          <p:cNvSpPr/>
          <p:nvPr/>
        </p:nvSpPr>
        <p:spPr>
          <a:xfrm>
            <a:off x="4736520" y="2340720"/>
            <a:ext cx="4022640" cy="310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 28"/>
          <p:cNvSpPr/>
          <p:nvPr/>
        </p:nvSpPr>
        <p:spPr>
          <a:xfrm>
            <a:off x="4800600" y="2377440"/>
            <a:ext cx="21024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Ridge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 29"/>
          <p:cNvSpPr/>
          <p:nvPr/>
        </p:nvSpPr>
        <p:spPr>
          <a:xfrm>
            <a:off x="6995160" y="2377440"/>
            <a:ext cx="103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0.673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 30"/>
          <p:cNvSpPr/>
          <p:nvPr/>
        </p:nvSpPr>
        <p:spPr>
          <a:xfrm>
            <a:off x="8119800" y="2377440"/>
            <a:ext cx="703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0.544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Shape 31"/>
          <p:cNvSpPr/>
          <p:nvPr/>
        </p:nvSpPr>
        <p:spPr>
          <a:xfrm>
            <a:off x="4736520" y="2679120"/>
            <a:ext cx="4022640" cy="310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32"/>
          <p:cNvSpPr/>
          <p:nvPr/>
        </p:nvSpPr>
        <p:spPr>
          <a:xfrm>
            <a:off x="4800600" y="2715840"/>
            <a:ext cx="21024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Régression Linéaire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 33"/>
          <p:cNvSpPr/>
          <p:nvPr/>
        </p:nvSpPr>
        <p:spPr>
          <a:xfrm>
            <a:off x="6995160" y="2715840"/>
            <a:ext cx="103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0.673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 34"/>
          <p:cNvSpPr/>
          <p:nvPr/>
        </p:nvSpPr>
        <p:spPr>
          <a:xfrm>
            <a:off x="8119800" y="2715840"/>
            <a:ext cx="703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0.544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Shape 35"/>
          <p:cNvSpPr/>
          <p:nvPr/>
        </p:nvSpPr>
        <p:spPr>
          <a:xfrm>
            <a:off x="4736520" y="3017520"/>
            <a:ext cx="4022640" cy="310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 36"/>
          <p:cNvSpPr/>
          <p:nvPr/>
        </p:nvSpPr>
        <p:spPr>
          <a:xfrm>
            <a:off x="4800600" y="3054240"/>
            <a:ext cx="21024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2c39a"/>
                </a:solidFill>
                <a:latin typeface="Calibri"/>
                <a:ea typeface="Calibri"/>
              </a:rPr>
              <a:t>LightGBM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 37"/>
          <p:cNvSpPr/>
          <p:nvPr/>
        </p:nvSpPr>
        <p:spPr>
          <a:xfrm>
            <a:off x="6995160" y="3054240"/>
            <a:ext cx="103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0.694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38"/>
          <p:cNvSpPr/>
          <p:nvPr/>
        </p:nvSpPr>
        <p:spPr>
          <a:xfrm>
            <a:off x="8119800" y="3054240"/>
            <a:ext cx="703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0.513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Shape 39"/>
          <p:cNvSpPr/>
          <p:nvPr/>
        </p:nvSpPr>
        <p:spPr>
          <a:xfrm>
            <a:off x="4736520" y="3355920"/>
            <a:ext cx="4022640" cy="310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40"/>
          <p:cNvSpPr/>
          <p:nvPr/>
        </p:nvSpPr>
        <p:spPr>
          <a:xfrm>
            <a:off x="4800600" y="3392280"/>
            <a:ext cx="21024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2c39a"/>
                </a:solidFill>
                <a:latin typeface="Calibri"/>
                <a:ea typeface="Calibri"/>
              </a:rPr>
              <a:t>Gradient Boosting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 41"/>
          <p:cNvSpPr/>
          <p:nvPr/>
        </p:nvSpPr>
        <p:spPr>
          <a:xfrm>
            <a:off x="6995160" y="3392280"/>
            <a:ext cx="103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0.696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Text 42"/>
          <p:cNvSpPr/>
          <p:nvPr/>
        </p:nvSpPr>
        <p:spPr>
          <a:xfrm>
            <a:off x="8119800" y="3392280"/>
            <a:ext cx="703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0.512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Shape 43"/>
          <p:cNvSpPr/>
          <p:nvPr/>
        </p:nvSpPr>
        <p:spPr>
          <a:xfrm>
            <a:off x="4736520" y="3694320"/>
            <a:ext cx="4022640" cy="310320"/>
          </a:xfrm>
          <a:prstGeom prst="rect">
            <a:avLst/>
          </a:prstGeom>
          <a:solidFill>
            <a:srgbClr val="0a1628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4800600" y="3730680"/>
            <a:ext cx="21024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2c39a"/>
                </a:solidFill>
                <a:latin typeface="Calibri"/>
                <a:ea typeface="Calibri"/>
              </a:rPr>
              <a:t>XGBoost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 45"/>
          <p:cNvSpPr/>
          <p:nvPr/>
        </p:nvSpPr>
        <p:spPr>
          <a:xfrm>
            <a:off x="6995160" y="3730680"/>
            <a:ext cx="103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0.697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 46"/>
          <p:cNvSpPr/>
          <p:nvPr/>
        </p:nvSpPr>
        <p:spPr>
          <a:xfrm>
            <a:off x="8119800" y="3730680"/>
            <a:ext cx="703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alibri"/>
                <a:ea typeface="Calibri"/>
              </a:rPr>
              <a:t>0.511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1" name="Shape 47"/>
          <p:cNvSpPr/>
          <p:nvPr/>
        </p:nvSpPr>
        <p:spPr>
          <a:xfrm>
            <a:off x="4736520" y="4032360"/>
            <a:ext cx="4022640" cy="310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 48"/>
          <p:cNvSpPr/>
          <p:nvPr/>
        </p:nvSpPr>
        <p:spPr>
          <a:xfrm>
            <a:off x="4800600" y="4069080"/>
            <a:ext cx="21024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7171"/>
                </a:solidFill>
                <a:latin typeface="Calibri"/>
                <a:ea typeface="Calibri"/>
              </a:rPr>
              <a:t>Baseline (médiane)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3" name="Text 49"/>
          <p:cNvSpPr/>
          <p:nvPr/>
        </p:nvSpPr>
        <p:spPr>
          <a:xfrm>
            <a:off x="6995160" y="4069080"/>
            <a:ext cx="10324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7171"/>
                </a:solidFill>
                <a:latin typeface="Calibri"/>
                <a:ea typeface="Calibri"/>
              </a:rPr>
              <a:t>0.999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 50"/>
          <p:cNvSpPr/>
          <p:nvPr/>
        </p:nvSpPr>
        <p:spPr>
          <a:xfrm>
            <a:off x="8119800" y="4069080"/>
            <a:ext cx="70344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87171"/>
                </a:solidFill>
                <a:latin typeface="Calibri"/>
                <a:ea typeface="Calibri"/>
              </a:rPr>
              <a:t>—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5" name="Shape 51"/>
          <p:cNvSpPr/>
          <p:nvPr/>
        </p:nvSpPr>
        <p:spPr>
          <a:xfrm>
            <a:off x="4736520" y="4700160"/>
            <a:ext cx="4022640" cy="200520"/>
          </a:xfrm>
          <a:prstGeom prst="rect">
            <a:avLst/>
          </a:prstGeom>
          <a:solidFill>
            <a:srgbClr val="00b4d8">
              <a:alpha val="20000"/>
            </a:srgbClr>
          </a:solidFill>
          <a:ln w="12700">
            <a:solidFill>
              <a:srgbClr val="00b4d8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 52"/>
          <p:cNvSpPr/>
          <p:nvPr/>
        </p:nvSpPr>
        <p:spPr>
          <a:xfrm>
            <a:off x="4800600" y="4700160"/>
            <a:ext cx="39312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00" spc="-1" strike="noStrike">
                <a:solidFill>
                  <a:srgbClr val="00b4d8"/>
                </a:solidFill>
                <a:latin typeface="Calibri"/>
                <a:ea typeface="Calibri"/>
              </a:rPr>
              <a:t>Baseline (médiane) : 0.999  →  Random Forest : −34%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Shape 0"/>
          <p:cNvSpPr/>
          <p:nvPr/>
        </p:nvSpPr>
        <p:spPr>
          <a:xfrm>
            <a:off x="320040" y="201240"/>
            <a:ext cx="63360" cy="5662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8" name="Text 1"/>
          <p:cNvSpPr/>
          <p:nvPr/>
        </p:nvSpPr>
        <p:spPr>
          <a:xfrm>
            <a:off x="475560" y="164520"/>
            <a:ext cx="832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Phase 5 — API Flask &amp; Application Next.js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Shape 2"/>
          <p:cNvSpPr/>
          <p:nvPr/>
        </p:nvSpPr>
        <p:spPr>
          <a:xfrm>
            <a:off x="320040" y="840960"/>
            <a:ext cx="8503920" cy="360"/>
          </a:xfrm>
          <a:prstGeom prst="line">
            <a:avLst/>
          </a:prstGeom>
          <a:ln w="15240">
            <a:solidFill>
              <a:srgbClr val="ec4899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Shape 3"/>
          <p:cNvSpPr/>
          <p:nvPr/>
        </p:nvSpPr>
        <p:spPr>
          <a:xfrm>
            <a:off x="7223760" y="201240"/>
            <a:ext cx="1645200" cy="383400"/>
          </a:xfrm>
          <a:prstGeom prst="rect">
            <a:avLst/>
          </a:prstGeom>
          <a:solidFill>
            <a:srgbClr val="ec4899">
              <a:alpha val="8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Text 4"/>
          <p:cNvSpPr/>
          <p:nvPr/>
        </p:nvSpPr>
        <p:spPr>
          <a:xfrm>
            <a:off x="7223760" y="201240"/>
            <a:ext cx="164520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ec4899"/>
                </a:solidFill>
                <a:latin typeface="Calibri"/>
                <a:ea typeface="Calibri"/>
              </a:rPr>
              <a:t>Phase 5  ·  Application Web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Shape 5"/>
          <p:cNvSpPr/>
          <p:nvPr/>
        </p:nvSpPr>
        <p:spPr>
          <a:xfrm>
            <a:off x="365760" y="960120"/>
            <a:ext cx="1919520" cy="840600"/>
          </a:xfrm>
          <a:prstGeom prst="rect">
            <a:avLst/>
          </a:prstGeom>
          <a:solidFill>
            <a:srgbClr val="1a2f45"/>
          </a:solidFill>
          <a:ln w="12700">
            <a:solidFill>
              <a:srgbClr val="818cf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Shape 6"/>
          <p:cNvSpPr/>
          <p:nvPr/>
        </p:nvSpPr>
        <p:spPr>
          <a:xfrm>
            <a:off x="365760" y="960120"/>
            <a:ext cx="1919520" cy="54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 7"/>
          <p:cNvSpPr/>
          <p:nvPr/>
        </p:nvSpPr>
        <p:spPr>
          <a:xfrm>
            <a:off x="411480" y="105156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Scikit-learn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Joblib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Text 8"/>
          <p:cNvSpPr/>
          <p:nvPr/>
        </p:nvSpPr>
        <p:spPr>
          <a:xfrm>
            <a:off x="411480" y="1554480"/>
            <a:ext cx="1828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818cf8"/>
                </a:solidFill>
                <a:latin typeface="Calibri"/>
                <a:ea typeface="Calibri"/>
              </a:rPr>
              <a:t>Modèle .pkl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Text 9"/>
          <p:cNvSpPr/>
          <p:nvPr/>
        </p:nvSpPr>
        <p:spPr>
          <a:xfrm>
            <a:off x="2304360" y="1188720"/>
            <a:ext cx="236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94a3b8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Shape 10"/>
          <p:cNvSpPr/>
          <p:nvPr/>
        </p:nvSpPr>
        <p:spPr>
          <a:xfrm>
            <a:off x="2560320" y="960120"/>
            <a:ext cx="1919520" cy="840600"/>
          </a:xfrm>
          <a:prstGeom prst="rect">
            <a:avLst/>
          </a:prstGeom>
          <a:solidFill>
            <a:srgbClr val="1a2f45"/>
          </a:solidFill>
          <a:ln w="12700">
            <a:solidFill>
              <a:srgbClr val="00b4d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Shape 11"/>
          <p:cNvSpPr/>
          <p:nvPr/>
        </p:nvSpPr>
        <p:spPr>
          <a:xfrm>
            <a:off x="2560320" y="960120"/>
            <a:ext cx="1919520" cy="54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Text 12"/>
          <p:cNvSpPr/>
          <p:nvPr/>
        </p:nvSpPr>
        <p:spPr>
          <a:xfrm>
            <a:off x="2606040" y="105156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Flask API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/api/predict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 13"/>
          <p:cNvSpPr/>
          <p:nvPr/>
        </p:nvSpPr>
        <p:spPr>
          <a:xfrm>
            <a:off x="2606040" y="1554480"/>
            <a:ext cx="1828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0b4d8"/>
                </a:solidFill>
                <a:latin typeface="Calibri"/>
                <a:ea typeface="Calibri"/>
              </a:rPr>
              <a:t>Backend Python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Text 14"/>
          <p:cNvSpPr/>
          <p:nvPr/>
        </p:nvSpPr>
        <p:spPr>
          <a:xfrm>
            <a:off x="4498920" y="1188720"/>
            <a:ext cx="236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94a3b8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Shape 15"/>
          <p:cNvSpPr/>
          <p:nvPr/>
        </p:nvSpPr>
        <p:spPr>
          <a:xfrm>
            <a:off x="4754880" y="960120"/>
            <a:ext cx="1919520" cy="840600"/>
          </a:xfrm>
          <a:prstGeom prst="rect">
            <a:avLst/>
          </a:prstGeom>
          <a:solidFill>
            <a:srgbClr val="1a2f45"/>
          </a:solidFill>
          <a:ln w="12700">
            <a:solidFill>
              <a:srgbClr val="ec4899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Shape 16"/>
          <p:cNvSpPr/>
          <p:nvPr/>
        </p:nvSpPr>
        <p:spPr>
          <a:xfrm>
            <a:off x="4754880" y="960120"/>
            <a:ext cx="1919520" cy="540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Text 17"/>
          <p:cNvSpPr/>
          <p:nvPr/>
        </p:nvSpPr>
        <p:spPr>
          <a:xfrm>
            <a:off x="4800600" y="105156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Next.js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+ Tailwind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Text 18"/>
          <p:cNvSpPr/>
          <p:nvPr/>
        </p:nvSpPr>
        <p:spPr>
          <a:xfrm>
            <a:off x="4800600" y="1554480"/>
            <a:ext cx="1828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ec4899"/>
                </a:solidFill>
                <a:latin typeface="Calibri"/>
                <a:ea typeface="Calibri"/>
              </a:rPr>
              <a:t>Frontend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Text 19"/>
          <p:cNvSpPr/>
          <p:nvPr/>
        </p:nvSpPr>
        <p:spPr>
          <a:xfrm>
            <a:off x="6693480" y="1188720"/>
            <a:ext cx="2368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94a3b8"/>
                </a:solidFill>
                <a:latin typeface="Calibri"/>
                <a:ea typeface="Calibri"/>
              </a:rPr>
              <a:t>→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Shape 20"/>
          <p:cNvSpPr/>
          <p:nvPr/>
        </p:nvSpPr>
        <p:spPr>
          <a:xfrm>
            <a:off x="6949440" y="960120"/>
            <a:ext cx="1919520" cy="840600"/>
          </a:xfrm>
          <a:prstGeom prst="rect">
            <a:avLst/>
          </a:prstGeom>
          <a:solidFill>
            <a:srgbClr val="1a2f45"/>
          </a:solidFill>
          <a:ln w="12700">
            <a:solidFill>
              <a:srgbClr val="02c39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Shape 21"/>
          <p:cNvSpPr/>
          <p:nvPr/>
        </p:nvSpPr>
        <p:spPr>
          <a:xfrm>
            <a:off x="6949440" y="960120"/>
            <a:ext cx="1919520" cy="54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 22"/>
          <p:cNvSpPr/>
          <p:nvPr/>
        </p:nvSpPr>
        <p:spPr>
          <a:xfrm>
            <a:off x="6995160" y="1051560"/>
            <a:ext cx="1828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Leaflet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+ OSM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Text 23"/>
          <p:cNvSpPr/>
          <p:nvPr/>
        </p:nvSpPr>
        <p:spPr>
          <a:xfrm>
            <a:off x="6995160" y="1554480"/>
            <a:ext cx="18280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2c39a"/>
                </a:solidFill>
                <a:latin typeface="Calibri"/>
                <a:ea typeface="Calibri"/>
              </a:rPr>
              <a:t>Carte interactive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Text 25"/>
          <p:cNvSpPr/>
          <p:nvPr/>
        </p:nvSpPr>
        <p:spPr>
          <a:xfrm>
            <a:off x="320040" y="2567880"/>
            <a:ext cx="4159800" cy="82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 26"/>
          <p:cNvSpPr/>
          <p:nvPr/>
        </p:nvSpPr>
        <p:spPr>
          <a:xfrm>
            <a:off x="457200" y="3451320"/>
            <a:ext cx="3885480" cy="123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Shape 27"/>
          <p:cNvSpPr/>
          <p:nvPr/>
        </p:nvSpPr>
        <p:spPr>
          <a:xfrm>
            <a:off x="4663440" y="1920240"/>
            <a:ext cx="4159800" cy="294372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Shape 28"/>
          <p:cNvSpPr/>
          <p:nvPr/>
        </p:nvSpPr>
        <p:spPr>
          <a:xfrm>
            <a:off x="4663440" y="1920240"/>
            <a:ext cx="4159800" cy="540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 29"/>
          <p:cNvSpPr/>
          <p:nvPr/>
        </p:nvSpPr>
        <p:spPr>
          <a:xfrm>
            <a:off x="4800600" y="2011680"/>
            <a:ext cx="3885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ec4899"/>
                </a:solidFill>
                <a:latin typeface="Calibri"/>
                <a:ea typeface="Calibri"/>
              </a:rPr>
              <a:t>FONCTIONNALITÉS DE L'APPLICATION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 30"/>
          <p:cNvSpPr/>
          <p:nvPr/>
        </p:nvSpPr>
        <p:spPr>
          <a:xfrm>
            <a:off x="4754880" y="2414160"/>
            <a:ext cx="5662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00b4d8"/>
                </a:solidFill>
                <a:latin typeface="Calibri"/>
                <a:ea typeface="Calibri"/>
              </a:rPr>
              <a:t>FORM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Text 31"/>
          <p:cNvSpPr/>
          <p:nvPr/>
        </p:nvSpPr>
        <p:spPr>
          <a:xfrm>
            <a:off x="5230440" y="2414160"/>
            <a:ext cx="3474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0b4d8"/>
                </a:solidFill>
                <a:latin typeface="Calibri"/>
                <a:ea typeface="Calibri"/>
              </a:rPr>
              <a:t>Formulaire de prédiction : type, surface, pièces, quartier, équipements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Text 32"/>
          <p:cNvSpPr/>
          <p:nvPr/>
        </p:nvSpPr>
        <p:spPr>
          <a:xfrm>
            <a:off x="4754880" y="2907720"/>
            <a:ext cx="5662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02c39a"/>
                </a:solidFill>
                <a:latin typeface="Calibri"/>
                <a:ea typeface="Calibri"/>
              </a:rPr>
              <a:t>PRIX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Text 33"/>
          <p:cNvSpPr/>
          <p:nvPr/>
        </p:nvSpPr>
        <p:spPr>
          <a:xfrm>
            <a:off x="5230440" y="2907720"/>
            <a:ext cx="3474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02c39a"/>
                </a:solidFill>
                <a:latin typeface="Calibri"/>
                <a:ea typeface="Calibri"/>
              </a:rPr>
              <a:t>Résultat : prix estimé en MRU et EUR + intervalle de confiance + prix/m²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 34"/>
          <p:cNvSpPr/>
          <p:nvPr/>
        </p:nvSpPr>
        <p:spPr>
          <a:xfrm>
            <a:off x="4754880" y="3401640"/>
            <a:ext cx="5662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59e0b"/>
                </a:solidFill>
                <a:latin typeface="Calibri"/>
                <a:ea typeface="Calibri"/>
              </a:rPr>
              <a:t>CARTE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 35"/>
          <p:cNvSpPr/>
          <p:nvPr/>
        </p:nvSpPr>
        <p:spPr>
          <a:xfrm>
            <a:off x="5230440" y="3401640"/>
            <a:ext cx="3474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Carte Leaflet/OSM : affichage du quartier sélectionné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Text 36"/>
          <p:cNvSpPr/>
          <p:nvPr/>
        </p:nvSpPr>
        <p:spPr>
          <a:xfrm>
            <a:off x="4754880" y="3895200"/>
            <a:ext cx="5662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818cf8"/>
                </a:solidFill>
                <a:latin typeface="Calibri"/>
                <a:ea typeface="Calibri"/>
              </a:rPr>
              <a:t>COMP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 37"/>
          <p:cNvSpPr/>
          <p:nvPr/>
        </p:nvSpPr>
        <p:spPr>
          <a:xfrm>
            <a:off x="5230440" y="3895200"/>
            <a:ext cx="3474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818cf8"/>
                </a:solidFill>
                <a:latin typeface="Calibri"/>
                <a:ea typeface="Calibri"/>
              </a:rPr>
              <a:t>Comparaison avec annonces similaires dans le quartier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Text 38"/>
          <p:cNvSpPr/>
          <p:nvPr/>
        </p:nvSpPr>
        <p:spPr>
          <a:xfrm>
            <a:off x="4754880" y="4389120"/>
            <a:ext cx="56628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ec4899"/>
                </a:solidFill>
                <a:latin typeface="Calibri"/>
                <a:ea typeface="Calibri"/>
              </a:rPr>
              <a:t>WEB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" name="Text 39"/>
          <p:cNvSpPr/>
          <p:nvPr/>
        </p:nvSpPr>
        <p:spPr>
          <a:xfrm>
            <a:off x="5230440" y="4389120"/>
            <a:ext cx="3474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ec4899"/>
                </a:solidFill>
                <a:latin typeface="Calibri"/>
                <a:ea typeface="Calibri"/>
              </a:rPr>
              <a:t>Déploiement : Frontend Vercel · Backend Render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96" name="" descr=""/>
          <p:cNvPicPr/>
          <p:nvPr/>
        </p:nvPicPr>
        <p:blipFill>
          <a:blip r:embed="rId1"/>
          <a:stretch/>
        </p:blipFill>
        <p:spPr>
          <a:xfrm>
            <a:off x="555480" y="1919520"/>
            <a:ext cx="3787560" cy="3109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Shape 0"/>
          <p:cNvSpPr/>
          <p:nvPr/>
        </p:nvSpPr>
        <p:spPr>
          <a:xfrm>
            <a:off x="320040" y="201240"/>
            <a:ext cx="63360" cy="56628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Text 1"/>
          <p:cNvSpPr/>
          <p:nvPr/>
        </p:nvSpPr>
        <p:spPr>
          <a:xfrm>
            <a:off x="475560" y="164520"/>
            <a:ext cx="832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Phase 4 — Stacking : Combiner les Modèles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Shape 2"/>
          <p:cNvSpPr/>
          <p:nvPr/>
        </p:nvSpPr>
        <p:spPr>
          <a:xfrm>
            <a:off x="320040" y="840960"/>
            <a:ext cx="8503920" cy="360"/>
          </a:xfrm>
          <a:prstGeom prst="line">
            <a:avLst/>
          </a:prstGeom>
          <a:ln w="15240">
            <a:solidFill>
              <a:srgbClr val="818cf8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Shape 5"/>
          <p:cNvSpPr/>
          <p:nvPr/>
        </p:nvSpPr>
        <p:spPr>
          <a:xfrm>
            <a:off x="320040" y="960120"/>
            <a:ext cx="4159800" cy="393120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Text 6"/>
          <p:cNvSpPr/>
          <p:nvPr/>
        </p:nvSpPr>
        <p:spPr>
          <a:xfrm>
            <a:off x="457200" y="1051560"/>
            <a:ext cx="3885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94a3b8"/>
                </a:solidFill>
                <a:latin typeface="Calibri"/>
                <a:ea typeface="Calibri"/>
              </a:rPr>
              <a:t>COUCHE 1 — MODÈLES DE BASE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Shape 7"/>
          <p:cNvSpPr/>
          <p:nvPr/>
        </p:nvSpPr>
        <p:spPr>
          <a:xfrm>
            <a:off x="457200" y="1353240"/>
            <a:ext cx="1188000" cy="474840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 8"/>
          <p:cNvSpPr/>
          <p:nvPr/>
        </p:nvSpPr>
        <p:spPr>
          <a:xfrm>
            <a:off x="457200" y="1353240"/>
            <a:ext cx="11880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b4d8"/>
                </a:solidFill>
                <a:latin typeface="Calibri"/>
                <a:ea typeface="Calibri"/>
              </a:rPr>
              <a:t>Random Forest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Shape 9"/>
          <p:cNvSpPr/>
          <p:nvPr/>
        </p:nvSpPr>
        <p:spPr>
          <a:xfrm>
            <a:off x="1783080" y="1353240"/>
            <a:ext cx="1188000" cy="474840"/>
          </a:xfrm>
          <a:prstGeom prst="rect">
            <a:avLst/>
          </a:prstGeom>
          <a:solidFill>
            <a:srgbClr val="0a1628"/>
          </a:solidFill>
          <a:ln w="12700">
            <a:solidFill>
              <a:srgbClr val="02c39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 10"/>
          <p:cNvSpPr/>
          <p:nvPr/>
        </p:nvSpPr>
        <p:spPr>
          <a:xfrm>
            <a:off x="1783080" y="1353240"/>
            <a:ext cx="11880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2c39a"/>
                </a:solidFill>
                <a:latin typeface="Calibri"/>
                <a:ea typeface="Calibri"/>
              </a:rPr>
              <a:t>LightGBM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Shape 11"/>
          <p:cNvSpPr/>
          <p:nvPr/>
        </p:nvSpPr>
        <p:spPr>
          <a:xfrm>
            <a:off x="3108960" y="1353240"/>
            <a:ext cx="1188000" cy="474840"/>
          </a:xfrm>
          <a:prstGeom prst="rect">
            <a:avLst/>
          </a:prstGeom>
          <a:solidFill>
            <a:srgbClr val="0a1628"/>
          </a:solidFill>
          <a:ln w="12700">
            <a:solidFill>
              <a:srgbClr val="02c39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Text 12"/>
          <p:cNvSpPr/>
          <p:nvPr/>
        </p:nvSpPr>
        <p:spPr>
          <a:xfrm>
            <a:off x="3108960" y="1353240"/>
            <a:ext cx="11880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2c39a"/>
                </a:solidFill>
                <a:latin typeface="Calibri"/>
                <a:ea typeface="Calibri"/>
              </a:rPr>
              <a:t>XGBoost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Shape 13"/>
          <p:cNvSpPr/>
          <p:nvPr/>
        </p:nvSpPr>
        <p:spPr>
          <a:xfrm>
            <a:off x="457200" y="1974960"/>
            <a:ext cx="1188000" cy="474840"/>
          </a:xfrm>
          <a:prstGeom prst="rect">
            <a:avLst/>
          </a:prstGeom>
          <a:solidFill>
            <a:srgbClr val="0a1628"/>
          </a:solidFill>
          <a:ln w="12700">
            <a:solidFill>
              <a:srgbClr val="00b4d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Text 14"/>
          <p:cNvSpPr/>
          <p:nvPr/>
        </p:nvSpPr>
        <p:spPr>
          <a:xfrm>
            <a:off x="457200" y="1974960"/>
            <a:ext cx="11880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0b4d8"/>
                </a:solidFill>
                <a:latin typeface="Calibri"/>
                <a:ea typeface="Calibri"/>
              </a:rPr>
              <a:t>ExtraTrees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Shape 15"/>
          <p:cNvSpPr/>
          <p:nvPr/>
        </p:nvSpPr>
        <p:spPr>
          <a:xfrm>
            <a:off x="1783080" y="1974960"/>
            <a:ext cx="1188000" cy="474840"/>
          </a:xfrm>
          <a:prstGeom prst="rect">
            <a:avLst/>
          </a:prstGeom>
          <a:solidFill>
            <a:srgbClr val="0a1628"/>
          </a:solidFill>
          <a:ln w="12700">
            <a:solidFill>
              <a:srgbClr val="02c39a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 16"/>
          <p:cNvSpPr/>
          <p:nvPr/>
        </p:nvSpPr>
        <p:spPr>
          <a:xfrm>
            <a:off x="1783080" y="1974960"/>
            <a:ext cx="11880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02c39a"/>
                </a:solidFill>
                <a:latin typeface="Calibri"/>
                <a:ea typeface="Calibri"/>
              </a:rPr>
              <a:t>CatBoost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Shape 17"/>
          <p:cNvSpPr/>
          <p:nvPr/>
        </p:nvSpPr>
        <p:spPr>
          <a:xfrm>
            <a:off x="3108960" y="1974960"/>
            <a:ext cx="1188000" cy="474840"/>
          </a:xfrm>
          <a:prstGeom prst="rect">
            <a:avLst/>
          </a:prstGeom>
          <a:solidFill>
            <a:srgbClr val="0a1628"/>
          </a:solidFill>
          <a:ln w="12700">
            <a:solidFill>
              <a:srgbClr val="94a3b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ext 18"/>
          <p:cNvSpPr/>
          <p:nvPr/>
        </p:nvSpPr>
        <p:spPr>
          <a:xfrm>
            <a:off x="3108960" y="1974960"/>
            <a:ext cx="118800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Ridge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Text 19"/>
          <p:cNvSpPr/>
          <p:nvPr/>
        </p:nvSpPr>
        <p:spPr>
          <a:xfrm>
            <a:off x="457200" y="2651760"/>
            <a:ext cx="383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Prédictions Out-of-Fold (5-fold CV) ↓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Shape 20"/>
          <p:cNvSpPr/>
          <p:nvPr/>
        </p:nvSpPr>
        <p:spPr>
          <a:xfrm>
            <a:off x="731520" y="2962800"/>
            <a:ext cx="3382560" cy="502200"/>
          </a:xfrm>
          <a:prstGeom prst="rect">
            <a:avLst/>
          </a:prstGeom>
          <a:solidFill>
            <a:srgbClr val="0a1628"/>
          </a:solidFill>
          <a:ln w="12700">
            <a:solidFill>
              <a:srgbClr val="818cf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 21"/>
          <p:cNvSpPr/>
          <p:nvPr/>
        </p:nvSpPr>
        <p:spPr>
          <a:xfrm>
            <a:off x="731520" y="2962800"/>
            <a:ext cx="3382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818cf8"/>
                </a:solidFill>
                <a:latin typeface="Calibri"/>
                <a:ea typeface="Calibri"/>
              </a:rPr>
              <a:t>COUCHE 2 — META-LEARNER (RidgeCV)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Text 22"/>
          <p:cNvSpPr/>
          <p:nvPr/>
        </p:nvSpPr>
        <p:spPr>
          <a:xfrm>
            <a:off x="457200" y="3520440"/>
            <a:ext cx="38397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Combinaison optimale des prédictions ↓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Shape 23"/>
          <p:cNvSpPr/>
          <p:nvPr/>
        </p:nvSpPr>
        <p:spPr>
          <a:xfrm>
            <a:off x="1005840" y="3822120"/>
            <a:ext cx="2833920" cy="474840"/>
          </a:xfrm>
          <a:prstGeom prst="rect">
            <a:avLst/>
          </a:prstGeom>
          <a:solidFill>
            <a:srgbClr val="818cf8">
              <a:alpha val="25000"/>
            </a:srgbClr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 24"/>
          <p:cNvSpPr/>
          <p:nvPr/>
        </p:nvSpPr>
        <p:spPr>
          <a:xfrm>
            <a:off x="1005840" y="3822120"/>
            <a:ext cx="28339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Prédiction Finale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Shape 25"/>
          <p:cNvSpPr/>
          <p:nvPr/>
        </p:nvSpPr>
        <p:spPr>
          <a:xfrm>
            <a:off x="4663440" y="960120"/>
            <a:ext cx="4159800" cy="11696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Shape 26"/>
          <p:cNvSpPr/>
          <p:nvPr/>
        </p:nvSpPr>
        <p:spPr>
          <a:xfrm>
            <a:off x="4663440" y="960120"/>
            <a:ext cx="54000" cy="1169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 27"/>
          <p:cNvSpPr/>
          <p:nvPr/>
        </p:nvSpPr>
        <p:spPr>
          <a:xfrm>
            <a:off x="4827960" y="1051560"/>
            <a:ext cx="3858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Pourquoi stacker 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 28"/>
          <p:cNvSpPr/>
          <p:nvPr/>
        </p:nvSpPr>
        <p:spPr>
          <a:xfrm>
            <a:off x="4827960" y="1362600"/>
            <a:ext cx="3858120" cy="6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Chaque modèle voit les données différemment. Random Forest capture les effets non-linéaires, Ridge apporte une solution stable, les boosters minimisent le biais. La combinaison est plus robuste qu'un seul modèle seul.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Shape 29"/>
          <p:cNvSpPr/>
          <p:nvPr/>
        </p:nvSpPr>
        <p:spPr>
          <a:xfrm>
            <a:off x="4663440" y="2286000"/>
            <a:ext cx="4159800" cy="11696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Shape 30"/>
          <p:cNvSpPr/>
          <p:nvPr/>
        </p:nvSpPr>
        <p:spPr>
          <a:xfrm>
            <a:off x="4663440" y="2286000"/>
            <a:ext cx="54000" cy="116964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Text 31"/>
          <p:cNvSpPr/>
          <p:nvPr/>
        </p:nvSpPr>
        <p:spPr>
          <a:xfrm>
            <a:off x="4827960" y="2377440"/>
            <a:ext cx="3858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Comment ça marche 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 32"/>
          <p:cNvSpPr/>
          <p:nvPr/>
        </p:nvSpPr>
        <p:spPr>
          <a:xfrm>
            <a:off x="4827960" y="2688480"/>
            <a:ext cx="3858120" cy="6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En validation croisée 5-fold, chaque modèle prédit sur les folds de validation qu'il n'a pas vus. On obtient ainsi des prédictions OOF (out-of-fold) pour les 1153 lignes. Le meta-learner apprend à les combiner.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Shape 33"/>
          <p:cNvSpPr/>
          <p:nvPr/>
        </p:nvSpPr>
        <p:spPr>
          <a:xfrm>
            <a:off x="4663440" y="3611880"/>
            <a:ext cx="4159800" cy="1169640"/>
          </a:xfrm>
          <a:prstGeom prst="rect">
            <a:avLst/>
          </a:prstGeom>
          <a:solidFill>
            <a:srgbClr val="1a2f45"/>
          </a:solidFill>
          <a:ln w="12700">
            <a:solidFill>
              <a:srgbClr val="1a2f45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Shape 34"/>
          <p:cNvSpPr/>
          <p:nvPr/>
        </p:nvSpPr>
        <p:spPr>
          <a:xfrm>
            <a:off x="4663440" y="3611880"/>
            <a:ext cx="54000" cy="116964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 35"/>
          <p:cNvSpPr/>
          <p:nvPr/>
        </p:nvSpPr>
        <p:spPr>
          <a:xfrm>
            <a:off x="4827960" y="3703320"/>
            <a:ext cx="38581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  <a:ea typeface="Calibri"/>
              </a:rPr>
              <a:t>Le piège à éviter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Text 36"/>
          <p:cNvSpPr/>
          <p:nvPr/>
        </p:nvSpPr>
        <p:spPr>
          <a:xfrm>
            <a:off x="4827960" y="4014360"/>
            <a:ext cx="3858120" cy="6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Calibri"/>
              </a:rPr>
              <a:t>Évaluer le meta-learner sur les mêmes données qu'il a apprises = score fictif. Dans notre V3, on avait ce bug : CV affiché 0.55, LB réel 0.61. Correction : le meta-learner doit aussi avoir son propre CV interne.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0"/>
          <p:cNvSpPr/>
          <p:nvPr/>
        </p:nvSpPr>
        <p:spPr>
          <a:xfrm>
            <a:off x="320040" y="201240"/>
            <a:ext cx="63360" cy="5662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 1"/>
          <p:cNvSpPr/>
          <p:nvPr/>
        </p:nvSpPr>
        <p:spPr>
          <a:xfrm>
            <a:off x="475560" y="164520"/>
            <a:ext cx="832032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  <a:ea typeface="Calibri"/>
              </a:rPr>
              <a:t>Régressions Rencontrées &amp; Comment les Surmonter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Shape 2"/>
          <p:cNvSpPr/>
          <p:nvPr/>
        </p:nvSpPr>
        <p:spPr>
          <a:xfrm>
            <a:off x="320040" y="840960"/>
            <a:ext cx="8503920" cy="360"/>
          </a:xfrm>
          <a:prstGeom prst="line">
            <a:avLst/>
          </a:prstGeom>
          <a:ln w="15240">
            <a:solidFill>
              <a:srgbClr val="f87171">
                <a:alpha val="4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Shape 3"/>
          <p:cNvSpPr/>
          <p:nvPr/>
        </p:nvSpPr>
        <p:spPr>
          <a:xfrm>
            <a:off x="320040" y="960120"/>
            <a:ext cx="8503200" cy="346680"/>
          </a:xfrm>
          <a:prstGeom prst="rect">
            <a:avLst/>
          </a:prstGeom>
          <a:solidFill>
            <a:srgbClr val="0a1628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Text 4"/>
          <p:cNvSpPr/>
          <p:nvPr/>
        </p:nvSpPr>
        <p:spPr>
          <a:xfrm>
            <a:off x="457200" y="960120"/>
            <a:ext cx="83203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87171"/>
                </a:solidFill>
                <a:latin typeface="Calibri"/>
                <a:ea typeface="Calibri"/>
              </a:rPr>
              <a:t>Régression </a:t>
            </a: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Calibri"/>
              </a:rPr>
              <a:t>= le score s'est dégradé après un changement. Chaque régression a été un signal d'apprentissage.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Shape 5"/>
          <p:cNvSpPr/>
          <p:nvPr/>
        </p:nvSpPr>
        <p:spPr>
          <a:xfrm>
            <a:off x="320040" y="1417320"/>
            <a:ext cx="4159800" cy="1663560"/>
          </a:xfrm>
          <a:prstGeom prst="rect">
            <a:avLst/>
          </a:prstGeom>
          <a:solidFill>
            <a:srgbClr val="1a2f45"/>
          </a:solidFill>
          <a:ln w="12700">
            <a:solidFill>
              <a:srgbClr val="f87171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Shape 6"/>
          <p:cNvSpPr/>
          <p:nvPr/>
        </p:nvSpPr>
        <p:spPr>
          <a:xfrm>
            <a:off x="320040" y="1417320"/>
            <a:ext cx="4159800" cy="54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9" name="Text 7"/>
          <p:cNvSpPr/>
          <p:nvPr/>
        </p:nvSpPr>
        <p:spPr>
          <a:xfrm>
            <a:off x="457200" y="1508760"/>
            <a:ext cx="1370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87171"/>
                </a:solidFill>
                <a:latin typeface="Calibri"/>
                <a:ea typeface="Calibri"/>
              </a:rPr>
              <a:t>Bug V3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Text 8"/>
          <p:cNvSpPr/>
          <p:nvPr/>
        </p:nvSpPr>
        <p:spPr>
          <a:xfrm>
            <a:off x="3063240" y="1508760"/>
            <a:ext cx="12794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59e0b"/>
                </a:solidFill>
                <a:latin typeface="Calibri"/>
                <a:ea typeface="Calibri"/>
              </a:rPr>
              <a:t>CV: 0.55 → LB: 0.61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Text 9"/>
          <p:cNvSpPr/>
          <p:nvPr/>
        </p:nvSpPr>
        <p:spPr>
          <a:xfrm>
            <a:off x="457200" y="1764720"/>
            <a:ext cx="3858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2e8f0"/>
                </a:solidFill>
                <a:latin typeface="Calibri"/>
                <a:ea typeface="Calibri"/>
              </a:rPr>
              <a:t>Meta-learner évalué en in-sample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 10"/>
          <p:cNvSpPr/>
          <p:nvPr/>
        </p:nvSpPr>
        <p:spPr>
          <a:xfrm>
            <a:off x="457200" y="2002680"/>
            <a:ext cx="38581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Cause : Le meta-learner était entraîné sur les prédictions OOF puis scoré sur ces mêmes lignes. C'est équivalent à s'évaluer sur ses données d'entraînement — un résultat fictif.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Shape 11"/>
          <p:cNvSpPr/>
          <p:nvPr/>
        </p:nvSpPr>
        <p:spPr>
          <a:xfrm>
            <a:off x="457200" y="2532960"/>
            <a:ext cx="45000" cy="4017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Text 12"/>
          <p:cNvSpPr/>
          <p:nvPr/>
        </p:nvSpPr>
        <p:spPr>
          <a:xfrm>
            <a:off x="576000" y="2532960"/>
            <a:ext cx="3729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2c39a"/>
                </a:solidFill>
                <a:latin typeface="Calibri"/>
                <a:ea typeface="Calibri"/>
              </a:rPr>
              <a:t>Fix : Ajout d'un CV interne pour le meta-learner (kf_meta). Il est maintenant entraîné sur un sous-ensemble et évalué sur les lignes qu'il n'a pas vues.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Shape 13"/>
          <p:cNvSpPr/>
          <p:nvPr/>
        </p:nvSpPr>
        <p:spPr>
          <a:xfrm>
            <a:off x="4663440" y="1417320"/>
            <a:ext cx="4159800" cy="1663560"/>
          </a:xfrm>
          <a:prstGeom prst="rect">
            <a:avLst/>
          </a:prstGeom>
          <a:solidFill>
            <a:srgbClr val="1a2f45"/>
          </a:solidFill>
          <a:ln w="12700">
            <a:solidFill>
              <a:srgbClr val="f87171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Shape 14"/>
          <p:cNvSpPr/>
          <p:nvPr/>
        </p:nvSpPr>
        <p:spPr>
          <a:xfrm>
            <a:off x="4663440" y="1417320"/>
            <a:ext cx="4159800" cy="54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Text 15"/>
          <p:cNvSpPr/>
          <p:nvPr/>
        </p:nvSpPr>
        <p:spPr>
          <a:xfrm>
            <a:off x="4800600" y="1508760"/>
            <a:ext cx="1370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87171"/>
                </a:solidFill>
                <a:latin typeface="Calibri"/>
                <a:ea typeface="Calibri"/>
              </a:rPr>
              <a:t>Bug Early Stop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 16"/>
          <p:cNvSpPr/>
          <p:nvPr/>
        </p:nvSpPr>
        <p:spPr>
          <a:xfrm>
            <a:off x="7406640" y="1508760"/>
            <a:ext cx="12794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59e0b"/>
                </a:solidFill>
                <a:latin typeface="Calibri"/>
                <a:ea typeface="Calibri"/>
              </a:rPr>
              <a:t>LGB: +0.026 RMSLE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9" name="Text 17"/>
          <p:cNvSpPr/>
          <p:nvPr/>
        </p:nvSpPr>
        <p:spPr>
          <a:xfrm>
            <a:off x="4800600" y="1764720"/>
            <a:ext cx="3858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2e8f0"/>
                </a:solidFill>
                <a:latin typeface="Calibri"/>
                <a:ea typeface="Calibri"/>
              </a:rPr>
              <a:t>Pas d'early stopping dans le stacking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Text 18"/>
          <p:cNvSpPr/>
          <p:nvPr/>
        </p:nvSpPr>
        <p:spPr>
          <a:xfrm>
            <a:off x="4800600" y="2002680"/>
            <a:ext cx="38581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Cause : Optuna trouvait les bons hyperparamètres avec early stopping (patience 50). Mais la boucle OOF du stacking faisait tourner tous les n_estimators sans s'arrêter — overfittant chaque fold.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Shape 19"/>
          <p:cNvSpPr/>
          <p:nvPr/>
        </p:nvSpPr>
        <p:spPr>
          <a:xfrm>
            <a:off x="4800600" y="2532960"/>
            <a:ext cx="45000" cy="4017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Text 20"/>
          <p:cNvSpPr/>
          <p:nvPr/>
        </p:nvSpPr>
        <p:spPr>
          <a:xfrm>
            <a:off x="4919400" y="2532960"/>
            <a:ext cx="3729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2c39a"/>
                </a:solidFill>
                <a:latin typeface="Calibri"/>
                <a:ea typeface="Calibri"/>
              </a:rPr>
              <a:t>Fix : Early stopping intégré dans le constructeur des modèles + eval_set passé dans fit(). Les conditions d'entraînement et de tuning sont maintenant identiques.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Shape 21"/>
          <p:cNvSpPr/>
          <p:nvPr/>
        </p:nvSpPr>
        <p:spPr>
          <a:xfrm>
            <a:off x="320040" y="3246120"/>
            <a:ext cx="4159800" cy="1663560"/>
          </a:xfrm>
          <a:prstGeom prst="rect">
            <a:avLst/>
          </a:prstGeom>
          <a:solidFill>
            <a:srgbClr val="1a2f45"/>
          </a:solidFill>
          <a:ln w="12700">
            <a:solidFill>
              <a:srgbClr val="f87171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Shape 22"/>
          <p:cNvSpPr/>
          <p:nvPr/>
        </p:nvSpPr>
        <p:spPr>
          <a:xfrm>
            <a:off x="320040" y="3246120"/>
            <a:ext cx="4159800" cy="54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 23"/>
          <p:cNvSpPr/>
          <p:nvPr/>
        </p:nvSpPr>
        <p:spPr>
          <a:xfrm>
            <a:off x="457200" y="3337560"/>
            <a:ext cx="1370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87171"/>
                </a:solidFill>
                <a:latin typeface="Calibri"/>
                <a:ea typeface="Calibri"/>
              </a:rPr>
              <a:t>V6 LOO encoding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 24"/>
          <p:cNvSpPr/>
          <p:nvPr/>
        </p:nvSpPr>
        <p:spPr>
          <a:xfrm>
            <a:off x="3063240" y="3337560"/>
            <a:ext cx="12794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59e0b"/>
                </a:solidFill>
                <a:latin typeface="Calibri"/>
                <a:ea typeface="Calibri"/>
              </a:rPr>
              <a:t>LB: 0.562 → 0.674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Text 25"/>
          <p:cNvSpPr/>
          <p:nvPr/>
        </p:nvSpPr>
        <p:spPr>
          <a:xfrm>
            <a:off x="457200" y="3593520"/>
            <a:ext cx="3858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2e8f0"/>
                </a:solidFill>
                <a:latin typeface="Calibri"/>
                <a:ea typeface="Calibri"/>
              </a:rPr>
              <a:t>Leave-One-Out encoding à la place du lissé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Text 26"/>
          <p:cNvSpPr/>
          <p:nvPr/>
        </p:nvSpPr>
        <p:spPr>
          <a:xfrm>
            <a:off x="457200" y="3831480"/>
            <a:ext cx="38581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Cause : LOO est théoriquement plus précis — mais Riyadh n'a que 13 annonces. Avec si peu de données, la variance du LOO est énorme et contamine les features d'interaction (surface × quartier_enc).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Shape 27"/>
          <p:cNvSpPr/>
          <p:nvPr/>
        </p:nvSpPr>
        <p:spPr>
          <a:xfrm>
            <a:off x="457200" y="4361760"/>
            <a:ext cx="45000" cy="401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 28"/>
          <p:cNvSpPr/>
          <p:nvPr/>
        </p:nvSpPr>
        <p:spPr>
          <a:xfrm>
            <a:off x="576000" y="4361760"/>
            <a:ext cx="3729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59e0b"/>
                </a:solidFill>
                <a:latin typeface="Calibri"/>
                <a:ea typeface="Calibri"/>
              </a:rPr>
              <a:t>Fix : Retour au target encoding lissé k=30. La régularisation bat la précision sur les petits groupes. Leçon : tester un seul changement à la fois pour isoler l'impact.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1" name="Shape 29"/>
          <p:cNvSpPr/>
          <p:nvPr/>
        </p:nvSpPr>
        <p:spPr>
          <a:xfrm>
            <a:off x="4663440" y="3246120"/>
            <a:ext cx="4159800" cy="1663560"/>
          </a:xfrm>
          <a:prstGeom prst="rect">
            <a:avLst/>
          </a:prstGeom>
          <a:solidFill>
            <a:srgbClr val="1a2f45"/>
          </a:solidFill>
          <a:ln w="12700">
            <a:solidFill>
              <a:srgbClr val="f87171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Shape 30"/>
          <p:cNvSpPr/>
          <p:nvPr/>
        </p:nvSpPr>
        <p:spPr>
          <a:xfrm>
            <a:off x="4663440" y="3246120"/>
            <a:ext cx="4159800" cy="54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 31"/>
          <p:cNvSpPr/>
          <p:nvPr/>
        </p:nvSpPr>
        <p:spPr>
          <a:xfrm>
            <a:off x="4800600" y="3337560"/>
            <a:ext cx="1370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87171"/>
                </a:solidFill>
                <a:latin typeface="Calibri"/>
                <a:ea typeface="Calibri"/>
              </a:rPr>
              <a:t>V6 Extraction prix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Text 32"/>
          <p:cNvSpPr/>
          <p:nvPr/>
        </p:nvSpPr>
        <p:spPr>
          <a:xfrm>
            <a:off x="7406640" y="3337560"/>
            <a:ext cx="12794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f59e0b"/>
                </a:solidFill>
                <a:latin typeface="Calibri"/>
                <a:ea typeface="Calibri"/>
              </a:rPr>
              <a:t>LB: 0.562 → 0.654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Text 33"/>
          <p:cNvSpPr/>
          <p:nvPr/>
        </p:nvSpPr>
        <p:spPr>
          <a:xfrm>
            <a:off x="4800600" y="3593520"/>
            <a:ext cx="3858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e2e8f0"/>
                </a:solidFill>
                <a:latin typeface="Calibri"/>
                <a:ea typeface="Calibri"/>
              </a:rPr>
              <a:t>Extraction de nombres bruts dans le texte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Text 34"/>
          <p:cNvSpPr/>
          <p:nvPr/>
        </p:nvSpPr>
        <p:spPr>
          <a:xfrm>
            <a:off x="4800600" y="3831480"/>
            <a:ext cx="385812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94a3b8"/>
                </a:solidFill>
                <a:latin typeface="Calibri"/>
                <a:ea typeface="Calibri"/>
              </a:rPr>
              <a:t>Cause : Le regex capturait tout entier de 7–9 chiffres comme un prix. Or les numéros de téléphone mauritaniens font 8 chiffres — la feature était remplie de faux prix.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Shape 35"/>
          <p:cNvSpPr/>
          <p:nvPr/>
        </p:nvSpPr>
        <p:spPr>
          <a:xfrm>
            <a:off x="4800600" y="4361760"/>
            <a:ext cx="45000" cy="4017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 36"/>
          <p:cNvSpPr/>
          <p:nvPr/>
        </p:nvSpPr>
        <p:spPr>
          <a:xfrm>
            <a:off x="4919400" y="4361760"/>
            <a:ext cx="37299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2c39a"/>
                </a:solidFill>
                <a:latin typeface="Calibri"/>
                <a:ea typeface="Calibri"/>
              </a:rPr>
              <a:t>Fix : Restriction du regex aux patterns explicites : 'X MRU', 'X millions', 'prix: XXXXXX'. Les numéros bruts sans unité sont ignorés. Résultat : +0.041 LB au final.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Shape 37"/>
          <p:cNvSpPr/>
          <p:nvPr/>
        </p:nvSpPr>
        <p:spPr>
          <a:xfrm>
            <a:off x="320040" y="4851360"/>
            <a:ext cx="8503200" cy="291960"/>
          </a:xfrm>
          <a:prstGeom prst="rect">
            <a:avLst/>
          </a:prstGeom>
          <a:solidFill>
            <a:srgbClr val="0a1628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Text 38"/>
          <p:cNvSpPr/>
          <p:nvPr/>
        </p:nvSpPr>
        <p:spPr>
          <a:xfrm>
            <a:off x="457200" y="4800600"/>
            <a:ext cx="832032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f59e0b"/>
                </a:solidFill>
                <a:latin typeface="Calibri"/>
                <a:ea typeface="Calibri"/>
              </a:rPr>
              <a:t>Leçon globale : </a:t>
            </a:r>
            <a:r>
              <a:rPr b="0" lang="en-US" sz="1050" spc="-1" strike="noStrike">
                <a:solidFill>
                  <a:srgbClr val="e2e8f0"/>
                </a:solidFill>
                <a:latin typeface="Calibri"/>
                <a:ea typeface="Calibri"/>
              </a:rPr>
              <a:t>tester un seul changement à la fois · vérifier CV/LB gap · une régression = un signal à analyser, pas à ignorer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2026-03-17T13:23:29Z</dcterms:created>
  <dc:creator>PptxGenJS</dc:creator>
  <dc:description/>
  <dc:language>en-US</dc:language>
  <cp:lastModifiedBy/>
  <dcterms:modified xsi:type="dcterms:W3CDTF">2026-03-18T22:38:48Z</dcterms:modified>
  <cp:revision>3</cp:revision>
  <dc:subject>PptxGenJS Presentation</dc:subject>
  <dc:title>Prédiction des Prix Immobiliers en Mauritanie — Capstone ML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